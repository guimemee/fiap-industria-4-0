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9AED0-6F14-4F18-8C1F-1EAC5F03AFC5}" type="datetimeFigureOut">
              <a:rPr lang="pt-BR" smtClean="0"/>
              <a:t>15/08/2019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46847-370C-4850-9E66-C106935265E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819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313FFEA-445A-4E26-BD33-31FFBB584D30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ED36-4C72-43EC-8B7A-D53C71FE1727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3EB7-2127-4602-BD8C-D27E58F4E2DC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30EF-B5F8-41A3-A774-72701C2D2401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9157-BE9F-418B-B71A-069D3C68700E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3DDB5-3549-4579-A4F3-AA77AB89A6AC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5EAB2-3676-4088-99FE-B96AFC947C85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84AE-D5C9-4DA5-B7A1-21011CAFE9B3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21C9-5DF5-49E3-80E7-6AB5A4B64E8F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8B39-F963-4D92-AD62-E15816471F5D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E188-C51C-49F7-B3B2-CADB2704E3A8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0CA9-68EF-42FC-8D72-9F5D191DE750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9BA3-BB7E-434B-9AF7-0682411AEA2F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35AB-9659-468B-AA97-F6576139FA16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D54D6-A069-4111-9AB8-50B95CC0C74E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B1FEF-FB10-4BC5-83CD-E008D7B18619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DF55-259A-4F3A-943D-022F9DAC4DD1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9F0200-9C2C-49BC-BBD3-60C203710549}" type="datetime1">
              <a:rPr lang="en-US" smtClean="0"/>
              <a:t>8/15/2019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google.com.br/url?sa=i&amp;rct=j&amp;q=&amp;esrc=s&amp;source=images&amp;cd=&amp;cad=rja&amp;uact=8&amp;ved=0ahUKEwj2kpbA8uTZAhULkJAKHepsDnIQjRwIBg&amp;url=https%3A%2F%2Fvanzolini.org.br%2Fweblog%2F2017%2F01%2F27%2Fqualidade-na-gestao-de-projetos-uma-importante-ferramenta-de-eficiencia-e-desenvolvimento-organizacional%2F&amp;psig=AOvVaw2SOjip7tzVdk77F6bZsxx2&amp;ust=1520879032012306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hyperlink" Target="https://www.google.com.br/url?sa=i&amp;rct=j&amp;q=&amp;esrc=s&amp;source=images&amp;cd=&amp;cad=rja&amp;uact=8&amp;ved=0ahUKEwjJuZ2_7-TZAhWBlJAKHRiKCioQjRwIBg&amp;url=http%3A%2F%2Fslideplayer.com.br%2Fslide%2F5623163%2F&amp;psig=AOvVaw2y8ePP6qYgZfBCmytOdNsS&amp;ust=1520878336341097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eg"/><Relationship Id="rId5" Type="http://schemas.openxmlformats.org/officeDocument/2006/relationships/hyperlink" Target="https://www.google.com.br/url?sa=i&amp;rct=j&amp;q=&amp;esrc=s&amp;source=images&amp;cd=&amp;cad=rja&amp;uact=8&amp;ved=0ahUKEwiBm4aa9eTZAhWIf5AKHRmxC6gQjRwIBg&amp;url=https://universidadedofutebol.com.br/a-lei-de-incentivo-ao-esporte-e-o-sistema-de-gestao-de-projetos/&amp;psig=AOvVaw2SOjip7tzVdk77F6bZsxx2&amp;ust=1520879032012306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google.com.br/url?sa=i&amp;rct=j&amp;q=&amp;esrc=s&amp;source=images&amp;cd=&amp;cad=rja&amp;uact=8&amp;ved=0ahUKEwjjye-aiOXZAhUKEZAKHTTnAxYQjRwIBg&amp;url=https%3A%2F%2Fblog.luz.vc%2Fo-que-e%2Fgerenciamento-de-projetos%2F&amp;psig=AOvVaw0YNW-dkHQ5F5Iuh9Rx8dTz&amp;ust=1520883482735128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www.google.com.br/url?sa=i&amp;rct=j&amp;q=&amp;esrc=s&amp;source=images&amp;cd=&amp;cad=rja&amp;uact=8&amp;ved=0ahUKEwjRof6RmOXZAhXCCpAKHW0MCoIQjRwIBg&amp;url=https%3A%2F%2Fuvagpclass.wordpress.com%2F2017%2F05%2F22%2Fplanejar-o-gerenciamento-dos-riscos%2F&amp;psig=AOvVaw1pSKySkoi23hYhugxc4CSc&amp;ust=1520889236823165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hyperlink" Target="https://www.google.com.br/url?sa=i&amp;rct=j&amp;q=&amp;esrc=s&amp;source=images&amp;cd=&amp;cad=rja&amp;uact=8&amp;ved=0ahUKEwjC74C3_-TZAhWCC5AKHbBUDREQjRwIBg&amp;url=http%3A%2F%2Fwww.techoje.com.br%2Fsite%2Ftechoje%2Fcategoria%2Fdetalhe_artigo%2F1793&amp;psig=AOvVaw2SOjip7tzVdk77F6bZsxx2&amp;ust=1520879032012306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hyperlink" Target="https://www.google.com.br/url?sa=i&amp;rct=j&amp;q=&amp;esrc=s&amp;source=images&amp;cd=&amp;cad=rja&amp;uact=8&amp;ved=0ahUKEwiMh9uojOXZAhVLiJAKHUqOC40QjRwIBg&amp;url=http%3A%2F%2Fwpm.wikidot.com%2Ftecnica%3Aanalise-de-medicao-de-desempenho&amp;psig=AOvVaw1ARaXdiYZfKH-H8abmZVt9&amp;ust=1520885969932880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www.google.com.br/url?sa=i&amp;rct=j&amp;q=&amp;esrc=s&amp;source=images&amp;cd=&amp;cad=rja&amp;uact=8&amp;ved=0ahUKEwj324roj-XZAhXMGJAKHTrgAtsQjRwIBg&amp;url=https%3A%2F%2Fpt.slideshare.net%2Fibnshekinah%2Fprocesso-de-gerenciamento-da-qualidade-pmbok&amp;psig=AOvVaw2wPEcTk3qGGrZugqQR3xAj&amp;ust=1520886979738397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www.google.com.br/url?sa=i&amp;rct=j&amp;q=&amp;esrc=s&amp;source=images&amp;cd=&amp;cad=rja&amp;uact=8&amp;ved=0ahUKEwi6pqPrkeXZAhWJgJAKHUz8BkIQjRwIBg&amp;url=https://www.diegomacedo.com.br/tag/pmp/&amp;psig=AOvVaw2wPEcTk3qGGrZugqQR3xAj&amp;ust=1520886979738397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eg"/><Relationship Id="rId5" Type="http://schemas.openxmlformats.org/officeDocument/2006/relationships/hyperlink" Target="https://www.google.com.br/url?sa=i&amp;rct=j&amp;q=&amp;esrc=s&amp;source=images&amp;cd=&amp;cad=rja&amp;uact=8&amp;ved=0ahUKEwiMxMrIlOXZAhWEHJAKHQz1AAAQjRwIBg&amp;url=https%3A%2F%2Fpt.slideshare.net%2Fpaulohbcampos%2Faplicao-de-aula-tema-comunicacoes-e-gestao-de-projetos&amp;psig=AOvVaw3SiEZByxGyhaGAMuF50r54&amp;ust=1520888283102934" TargetMode="Externa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hyperlink" Target="https://www.google.com.br/imgres?imgurl=https%3A%2F%2Fwww.diegomacedo.com.br%2Fwp-content%2Fuploads%2F2014%2F10%2Fintegra%25C3%25A7%25C3%25A3o.png&amp;imgrefurl=https%3A%2F%2Fwww.diegomacedo.com.br%2Ftag%2Fprojeto%2F&amp;docid=yVZG4ylzfvvZPM&amp;tbnid=wgtZeFlsIOfj-M%3A&amp;vet=10ahUKEwjEgN6jrYXkAhXSGbkGHU_3C1wQMwhhKBAwEA..i&amp;w=861&amp;h=763&amp;bih=954&amp;biw=1904&amp;q=Aquisi%C3%A7%C3%B5es%20no%20PMBok%20imagens&amp;ved=0ahUKEwjEgN6jrYXkAhXSGbkGHU_3C1wQMwhhKBAwEA&amp;iact=mrc&amp;uact=8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hyperlink" Target="https://www.google.com.br/imgres?imgurl=http%3A%2F%2Fwww.pqe.com.br%2Ffiles%2FArquivos%2Fmediacao2.jpg&amp;imgrefurl=http%3A%2F%2Fwww.pqe.com.br%2Fnoticias%2Fcurso-internacional-de-vendas-imobiliarias-comeca-em-maio%2F2797%2F&amp;docid=DYN-LlsxsK6ZMM&amp;tbnid=JVE2u3jnyzahOM%3A&amp;vet=10ahUKEwiQxK7Sr4XkAhXPGLkGHU5MAKUQMwg2KAswCw..i&amp;w=281&amp;h=242&amp;bih=954&amp;biw=1904&amp;q=negocia%C3%A7%C3%A3o%20imagens&amp;ved=0ahUKEwiQxK7Sr4XkAhXPGLkGHU5MAKUQMwg2KAswCw&amp;iact=mrc&amp;uact=8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87967-1781-4F21-A161-1DD9E178C5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800" dirty="0"/>
              <a:t>Documentação projeto CyberCup FIAP 2019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DE129F-6F26-4042-9B9F-8F9A316999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Dr. Demerval Luiz Polizelli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18B9697-1071-462F-BF9D-82E1C6FE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E99994-AE46-4FAB-ABAD-77E26CCE2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709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59EF66A-9C0E-438D-9879-0DE451211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Entendo melhor a missão da documentação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EED5A3-FCE8-4D27-9E00-86FCA4FCEA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pt-BR" dirty="0"/>
              <a:t>O presente roteiro foi elaborado para facilitar a redação do projeto por parte dos alunos. Além de apresentar alguns dos conceitos mais relevantes do PMBoK, o texto compartilha algumas sugestões fruto da vivência de projetos anteriores na FIAP.</a:t>
            </a:r>
          </a:p>
          <a:p>
            <a:endParaRPr lang="pt-BR" dirty="0"/>
          </a:p>
        </p:txBody>
      </p:sp>
      <p:pic>
        <p:nvPicPr>
          <p:cNvPr id="6" name="Espaço Reservado para Conteúdo 5" descr="Resultado de imagem para gerência de Projetos imagens">
            <a:hlinkClick r:id="rId2" tgtFrame="&quot;_blank&quot;"/>
            <a:extLst>
              <a:ext uri="{FF2B5EF4-FFF2-40B4-BE49-F238E27FC236}">
                <a16:creationId xmlns:a16="http://schemas.microsoft.com/office/drawing/2014/main" id="{4C0DD05C-EF92-4C2B-8611-B1E9EA55A384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2560320"/>
            <a:ext cx="4875916" cy="338799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9FC8956E-A514-4529-9144-35170B490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B27CC3C6-49BD-45EF-B4EC-894E05D0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297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2210D-6BFC-450A-8FDA-433C36B2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Entendo melhor a missão da documentação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1F3605-321A-46FC-BBC6-04E00B6B29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Para facilitar a introdução seguem breves definições de projeto para orientar a redação do grupo:</a:t>
            </a:r>
          </a:p>
          <a:p>
            <a:pPr marL="0" lvl="0" indent="0">
              <a:buNone/>
            </a:pPr>
            <a:r>
              <a:rPr lang="pt-BR" dirty="0"/>
              <a:t>1. Projeto é um esforço particular, complexo e não rotineiro de uma organização definido por tempo, recursos e especificações de desempenho orientados pelas necessidades do cliente.</a:t>
            </a:r>
          </a:p>
          <a:p>
            <a:pPr marL="0" lvl="0" indent="0">
              <a:buNone/>
            </a:pPr>
            <a:r>
              <a:rPr lang="pt-BR" dirty="0"/>
              <a:t>2. Projeto identifica quais processos dentro da empresa precisam mudar no tempo, orçamento e recursos disponíveis para atingir as metas estabelecidas para o atendimento para o cliente.</a:t>
            </a:r>
          </a:p>
          <a:p>
            <a:pPr marL="0" lvl="0" indent="0">
              <a:buNone/>
            </a:pPr>
            <a:r>
              <a:rPr lang="pt-BR" dirty="0"/>
              <a:t>3. Projeto está baseado no entendimento dos processos de negócio, ou seja, a coleção [articulação] de atividades [ações] que geram produtos ou serviços que interessam aos clientes, organizações e parceiros.</a:t>
            </a:r>
          </a:p>
          <a:p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3A47A0-02A1-49A7-AF2B-F46253A16C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Mais Importante ainda:</a:t>
            </a:r>
          </a:p>
          <a:p>
            <a:pPr marL="0" indent="0">
              <a:buNone/>
            </a:pPr>
            <a:r>
              <a:rPr lang="pt-BR" dirty="0"/>
              <a:t>O que um projeto diz?</a:t>
            </a:r>
          </a:p>
          <a:p>
            <a:pPr marL="457200" indent="-457200">
              <a:buAutoNum type="arabicPeriod"/>
            </a:pPr>
            <a:r>
              <a:rPr lang="pt-BR" dirty="0"/>
              <a:t>Ele apresenta como um time empreendedor se organiza para apresentar um novo produto. Ele deve atrair os investidores, convencê-los de que vale a pena assumir o risco de desenvolver um novo produto ou serviço para ganhar espaço no mercado.</a:t>
            </a:r>
          </a:p>
          <a:p>
            <a:pPr marL="457200" indent="-457200">
              <a:buAutoNum type="arabicPeriod"/>
            </a:pPr>
            <a:r>
              <a:rPr lang="pt-BR" dirty="0"/>
              <a:t> Mostra o grau de organização do time por meio : a identificação do mercado, as oportunidades, os riscos, o tempo e como a equipe se organiza por meio dele para que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1E4516-36AC-45D6-9E60-BA27D80C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0BE944-E2C8-4765-B5F0-62E7A5C74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77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70ADC8-3FF1-4BD5-B6CE-DC6245E68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rgbClr val="262626"/>
                </a:solidFill>
              </a:rPr>
              <a:t>O ciclo de vida do Projeto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B7ABDE-E36B-4693-8DE4-E3AE14C0F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504" y="2430471"/>
            <a:ext cx="3256019" cy="3817926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lvl="0"/>
            <a:r>
              <a:rPr lang="pt-BR" dirty="0"/>
              <a:t>Início: define as especificações do projeto, objetivos e responsabilidades.</a:t>
            </a:r>
          </a:p>
          <a:p>
            <a:pPr lvl="0"/>
            <a:r>
              <a:rPr lang="pt-BR" dirty="0"/>
              <a:t>Planejamento: detalha as atividades a serem desenvolvidas, quais mudanças serão implantadas, como programar a mudança, quais os padrões de qualidade e como o orçamento será controlado.</a:t>
            </a:r>
          </a:p>
          <a:p>
            <a:pPr lvl="0"/>
            <a:r>
              <a:rPr lang="pt-BR" dirty="0"/>
              <a:t>Execução: ações concretas começam a ser realizadas, os primeiros entregáveis passam a ser feitos e enviados para os membros da equipe. As especificações de tempo, qualidade e custos passam a ser avaliadas.</a:t>
            </a:r>
          </a:p>
          <a:p>
            <a:pPr lvl="0"/>
            <a:r>
              <a:rPr lang="pt-BR" dirty="0"/>
              <a:t>Grupos de controle: métricas internas de desempenho, avaliação e correção</a:t>
            </a:r>
          </a:p>
          <a:p>
            <a:pPr lvl="0"/>
            <a:r>
              <a:rPr lang="pt-BR" dirty="0"/>
              <a:t>Finalização: entrega do produto para o apoiador do projeto e a elaboração do relatório final para registar as experiências e corrigir projetos futuros.</a:t>
            </a:r>
          </a:p>
          <a:p>
            <a:endParaRPr lang="en-US" sz="1800" dirty="0">
              <a:solidFill>
                <a:srgbClr val="262626"/>
              </a:solidFill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Espaço Reservado para Conteúdo 6" descr="Resultado de imagem para gerência de Projetos imagens">
            <a:hlinkClick r:id="rId5" tgtFrame="&quot;_blank&quot;"/>
            <a:extLst>
              <a:ext uri="{FF2B5EF4-FFF2-40B4-BE49-F238E27FC236}">
                <a16:creationId xmlns:a16="http://schemas.microsoft.com/office/drawing/2014/main" id="{3DFA187E-F1BC-40D4-B3A1-4D852BDC260E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35910" y="1116711"/>
            <a:ext cx="6098041" cy="4573530"/>
          </a:xfrm>
          <a:prstGeom prst="rect">
            <a:avLst/>
          </a:prstGeom>
          <a:noFill/>
        </p:spPr>
      </p:pic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210844-92B7-44AC-B6EB-5F190C4B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8466" y="6379383"/>
            <a:ext cx="3649133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B69DFB-C4CE-448B-9BAC-D4FB1ADD4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630" y="6379383"/>
            <a:ext cx="542697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D84065D-F351-4B03-BD91-D8A6B8D4B362}" type="slidenum">
              <a:rPr lang="en-US" smtClean="0"/>
              <a:pPr defTabSz="914400">
                <a:spcAft>
                  <a:spcPts val="600"/>
                </a:spcAft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364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34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50" name="Straight Connector 40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5E66D3F-14EA-4BCD-819B-EEF581746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49D3EDE-CC3B-4573-A04B-26F32F1B2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700D0D4B-CC81-434D-B595-71AA69192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8047919-8C66-4EF3-9979-FB7112EB6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00195C4-7BCF-469C-A003-AC2F0D2F9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CEE82425-33CD-4CF1-9623-91BECE687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F2BB1D5-A1EA-4605-AD42-5BB181FCC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2" y="982132"/>
            <a:ext cx="4802185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>
                <a:solidFill>
                  <a:srgbClr val="262626"/>
                </a:solidFill>
              </a:rPr>
              <a:t>Ciclo de vida e protótipo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D5289D1-D3B7-4C53-823E-280A79C02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4517009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456CE10-0EE3-4503-ACF3-1D53A6FDB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4412" y="2400639"/>
            <a:ext cx="4802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495B31-4D65-458E-AB4D-31F65D3D8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4412" y="2556932"/>
            <a:ext cx="4802184" cy="33189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O protótipo é relevante para antecipar riscos e demonstrar a possiblidade de escala do empreendimento.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01FF1C-2507-4436-AE01-F9DA3E975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1000" b="0" i="0" kern="1200" dirty="0">
              <a:solidFill>
                <a:srgbClr val="00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61AC20-C61B-48DF-9967-CB62ACC79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D84065D-F351-4B03-BD91-D8A6B8D4B362}" type="slidenum">
              <a:rPr lang="en-US">
                <a:solidFill>
                  <a:srgbClr val="000000"/>
                </a:solidFill>
              </a:rPr>
              <a:pPr defTabSz="914400">
                <a:spcAft>
                  <a:spcPts val="600"/>
                </a:spcAft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1A3868C5-5F0E-496E-940B-6A618BC630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2" name="Imagem 51" descr="Resultado de imagem para gerência de Projetos imagens">
            <a:hlinkClick r:id="rId5" tgtFrame="&quot;_blank&quot;"/>
            <a:extLst>
              <a:ext uri="{FF2B5EF4-FFF2-40B4-BE49-F238E27FC236}">
                <a16:creationId xmlns:a16="http://schemas.microsoft.com/office/drawing/2014/main" id="{62759150-A0D5-4A5E-97DB-3323C052B8EF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91" y="1092200"/>
            <a:ext cx="4467483" cy="45151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8837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AE67F-3E66-43B0-AC3C-F1915D41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Áreas de conhecimento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0FA9F2-F1C1-4366-A643-9A8608F330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As áreas de conhecimento são apresentadas como sugestão para o envolvimento dos financiadores do projeto os stakeholders.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41E1DD89-C484-4FA4-AA97-3A19A6418F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59399" y="2560638"/>
            <a:ext cx="4634154" cy="3309937"/>
          </a:xfrm>
        </p:spPr>
      </p:pic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3D018E-8F2E-471C-A8BC-50D5508D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B8A5C4-6D19-458B-8CA3-772A0AEFC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312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13405-03ED-4EE9-8939-3F8813F0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Área de conhecimento do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DC2852-D342-4F31-B783-3793AA0EC6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Defina claramente o que o seu projeto é capaz de fazer.</a:t>
            </a:r>
          </a:p>
          <a:p>
            <a:r>
              <a:rPr lang="pt-BR" dirty="0"/>
              <a:t> Quais as vantagens que ele pode trazer para as empresas ou pessoas envolvidas.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29CD3B-7456-476D-B5CE-1CDE1571AF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Lembre-se que o escopo bem definido contribui para as próximas fazes do projeto, com destaque para riscos, custos e tempo.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614CD2-3B9E-4293-A04B-61A478E2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1ED46B-571E-48F9-BCE6-42D4FED4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957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12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32" name="Straight Connector 18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20">
            <a:extLst>
              <a:ext uri="{FF2B5EF4-FFF2-40B4-BE49-F238E27FC236}">
                <a16:creationId xmlns:a16="http://schemas.microsoft.com/office/drawing/2014/main" id="{ED56E41F-B8E0-4D18-B554-FD40260D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4" name="Group 22">
            <a:extLst>
              <a:ext uri="{FF2B5EF4-FFF2-40B4-BE49-F238E27FC236}">
                <a16:creationId xmlns:a16="http://schemas.microsoft.com/office/drawing/2014/main" id="{2DB31E17-E562-4F82-98D0-858C8412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8BF3B07-5EF6-4E5B-834E-C1398DB60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5" name="Rectangle 24">
              <a:extLst>
                <a:ext uri="{FF2B5EF4-FFF2-40B4-BE49-F238E27FC236}">
                  <a16:creationId xmlns:a16="http://schemas.microsoft.com/office/drawing/2014/main" id="{3DDA1859-D108-4C60-B38B-C85485AB3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498EA77-084B-43CC-B94D-566F1D8E1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6" name="Picture 26">
              <a:extLst>
                <a:ext uri="{FF2B5EF4-FFF2-40B4-BE49-F238E27FC236}">
                  <a16:creationId xmlns:a16="http://schemas.microsoft.com/office/drawing/2014/main" id="{99B16D3F-47E8-419E-9C4E-ED6FC918F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866FEEC-4883-40A1-A6BB-B375A877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262626"/>
                </a:solidFill>
              </a:rPr>
              <a:t>Área de conhecimento de tempo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E937B9-07EE-456A-A31C-41A8866E2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Espaço Reservado para Conteúdo 7" descr="Uma imagem contendo texto&#10;&#10;Descrição gerada automaticamente">
            <a:extLst>
              <a:ext uri="{FF2B5EF4-FFF2-40B4-BE49-F238E27FC236}">
                <a16:creationId xmlns:a16="http://schemas.microsoft.com/office/drawing/2014/main" id="{C9F6CDC0-9438-488B-8FCC-7ED8B6D57A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1412683" y="1404596"/>
            <a:ext cx="5330061" cy="3956585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2308B7-2829-44DD-B213-27EEBDED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039F41-7E67-4832-997B-38496FDA7B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5370" y="2556932"/>
            <a:ext cx="4081489" cy="33189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1300" dirty="0">
                <a:solidFill>
                  <a:srgbClr val="262626"/>
                </a:solidFill>
              </a:rPr>
              <a:t>1</a:t>
            </a:r>
            <a:r>
              <a:rPr lang="en-US" sz="1400" dirty="0">
                <a:solidFill>
                  <a:srgbClr val="262626"/>
                </a:solidFill>
              </a:rPr>
              <a:t>. Um dos pontos mais críticos da gestão de projetos envolve as atividades, os requisitos, interrelações com outras áreas e cronograma permitem associar o tempo de cada atividade e o impacto no agregado do seu conjunto.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</a:rPr>
              <a:t>2. O cronograma permite visualizar as responsabilidades integradas por diversos membros envolvidas no projeto. Permite uma abordagem de método de gestão da capacidade do time em promover as mudanças desejadas.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</a:rPr>
              <a:t>3. No caso o calendário envolve a interação com as partes interessadas (professores, coordenação e organizações parceiras) que fornecem a data dos entregáveis, o retorno e as novas tarefas para cada grupo.</a:t>
            </a:r>
          </a:p>
          <a:p>
            <a:pPr>
              <a:lnSpc>
                <a:spcPct val="90000"/>
              </a:lnSpc>
            </a:pPr>
            <a:endParaRPr lang="en-US" sz="1300" dirty="0">
              <a:solidFill>
                <a:srgbClr val="262626"/>
              </a:solidFill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9F94DD-3394-45A0-A837-1958894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1000" b="0" i="0" kern="1200" dirty="0">
              <a:solidFill>
                <a:srgbClr val="00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BD1378-2AA5-486C-8535-4A8E4350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D84065D-F351-4B03-BD91-D8A6B8D4B362}" type="slidenum">
              <a:rPr lang="en-US">
                <a:solidFill>
                  <a:srgbClr val="000000"/>
                </a:solidFill>
              </a:rPr>
              <a:pPr defTabSz="914400">
                <a:spcAft>
                  <a:spcPts val="600"/>
                </a:spcAft>
              </a:pPr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21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09B32EA-B7A5-4989-BCB8-FB3A3F7C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um Cronograma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688B13-9BCE-4EDF-811A-5EB3FE4A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3F79C9-48E6-47B6-856B-6FAEA5F0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9</a:t>
            </a:fld>
            <a:endParaRPr lang="en-US" dirty="0"/>
          </a:p>
        </p:txBody>
      </p:sp>
      <p:pic>
        <p:nvPicPr>
          <p:cNvPr id="9" name="Espaço Reservado para Conteúdo 8" descr="Resultado de imagem para Plano de gerenciamento de projetos imagens">
            <a:hlinkClick r:id="rId2" tgtFrame="&quot;_blank&quot;"/>
            <a:extLst>
              <a:ext uri="{FF2B5EF4-FFF2-40B4-BE49-F238E27FC236}">
                <a16:creationId xmlns:a16="http://schemas.microsoft.com/office/drawing/2014/main" id="{0BD9B516-0CA4-4BD9-8906-FCADC056C42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593" y="2557463"/>
            <a:ext cx="9323109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974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5E66D3F-14EA-4BCD-819B-EEF581746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9D3EDE-CC3B-4573-A04B-26F32F1B2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00D0D4B-CC81-434D-B595-71AA69192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8047919-8C66-4EF3-9979-FB7112EB6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00195C4-7BCF-469C-A003-AC2F0D2F9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EE82425-33CD-4CF1-9623-91BECE687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6C8CDD5-BA02-4149-9B0D-29C09512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2" y="982132"/>
            <a:ext cx="4802185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>
                <a:solidFill>
                  <a:srgbClr val="262626"/>
                </a:solidFill>
              </a:rPr>
              <a:t>Área de Conhecimento dos riscos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5289D1-D3B7-4C53-823E-280A79C02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4517009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Espaço Reservado para Conteúdo 9" descr="Uma imagem contendo ao ar livre, céu, montanha, neve&#10;&#10;Descrição gerada automaticamente">
            <a:extLst>
              <a:ext uri="{FF2B5EF4-FFF2-40B4-BE49-F238E27FC236}">
                <a16:creationId xmlns:a16="http://schemas.microsoft.com/office/drawing/2014/main" id="{15427F94-5279-4495-991D-9501705DCA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1421693" y="1410208"/>
            <a:ext cx="3858780" cy="385878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56CE10-0EE3-4503-ACF3-1D53A6FDB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4412" y="2400639"/>
            <a:ext cx="4802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B21592-873D-4B7A-A230-58A859F20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35177" y="2419679"/>
            <a:ext cx="5801682" cy="35475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1600" dirty="0">
                <a:solidFill>
                  <a:srgbClr val="262626"/>
                </a:solidFill>
              </a:rPr>
              <a:t>1. Planejamento de riscos envolve se antecipar a todos os atos que podem gerar ameaças para todo o projeto sob a forma de aumento de prazo, custos, qualidade, pessoal e os de oportunidade (entrada de um novo concorrente).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dirty="0">
                <a:solidFill>
                  <a:srgbClr val="262626"/>
                </a:solidFill>
              </a:rPr>
              <a:t>2. Para tal fim essa área se dedica a planejar, identificar, analisar, responder e controlar as ameaças ao projeto. Deve-se alertar que existem riscos positivos (resultados acima do esperado) e riscos negativos (abaixo do esperado). Logo uma outra característica da gestão de risco será maximizar os riscos positivos e minimizar os negativos.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600" dirty="0">
                <a:solidFill>
                  <a:srgbClr val="262626"/>
                </a:solidFill>
              </a:rPr>
              <a:t>3. O mais importante no gerenciamento de projetos em relação a antecipar os riscos é: não ser afetado de forma absolutamente inesperada por ele. Ao definir atividades em qualquer área de atividade, cabe ao gestor questionar sobre eventos que possam desvirtuar as respostas esperadas.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A101F5-AB52-44FD-B369-2511052CB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1000" b="0" i="0" kern="1200" dirty="0">
              <a:solidFill>
                <a:srgbClr val="00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EF9D29-2BA7-4F95-A451-1CF433B7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D84065D-F351-4B03-BD91-D8A6B8D4B362}" type="slidenum">
              <a:rPr lang="en-US">
                <a:solidFill>
                  <a:srgbClr val="000000"/>
                </a:solidFill>
              </a:rPr>
              <a:pPr defTabSz="914400">
                <a:spcAft>
                  <a:spcPts val="600"/>
                </a:spcAft>
              </a:pPr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396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061D77C-A74B-4B94-BF84-27FC746A5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(continuação)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24E8E7-93F3-4FE7-A179-A06C77E1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E5D80C-BD5F-4326-9347-C7571B464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Espaço Reservado para Conteúdo 8" descr="Resultado de imagem para PMBoK Plano de gerenciamento de risco imagens">
            <a:hlinkClick r:id="rId2" tgtFrame="&quot;_blank&quot;"/>
            <a:extLst>
              <a:ext uri="{FF2B5EF4-FFF2-40B4-BE49-F238E27FC236}">
                <a16:creationId xmlns:a16="http://schemas.microsoft.com/office/drawing/2014/main" id="{730649C7-DE29-4FB5-934D-72189A79183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1" y="2557463"/>
            <a:ext cx="9601196" cy="34115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685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D56E41F-B8E0-4D18-B554-FD40260D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DB31E17-E562-4F82-98D0-858C8412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8BF3B07-5EF6-4E5B-834E-C1398DB60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DDA1859-D108-4C60-B38B-C85485AB3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498EA77-084B-43CC-B94D-566F1D8E1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9B16D3F-47E8-419E-9C4E-ED6FC918F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DDF568E-D535-4B1A-B76D-53D0EFEB3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262626"/>
                </a:solidFill>
              </a:rPr>
              <a:t>Riscos (cont.)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E937B9-07EE-456A-A31C-41A8866E2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Espaço Reservado para Conteúdo 5" descr="Resultado de imagem para gerência de Projetos imagens">
            <a:hlinkClick r:id="rId5" tgtFrame="&quot;_blank&quot;"/>
            <a:extLst>
              <a:ext uri="{FF2B5EF4-FFF2-40B4-BE49-F238E27FC236}">
                <a16:creationId xmlns:a16="http://schemas.microsoft.com/office/drawing/2014/main" id="{D54C390F-04CA-41F9-AE52-38DE77E09820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46135" y="1250696"/>
            <a:ext cx="5605472" cy="4110489"/>
          </a:xfrm>
          <a:prstGeom prst="rect">
            <a:avLst/>
          </a:prstGeom>
          <a:noFill/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D2308B7-2829-44DD-B213-27EEBDED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B711670-7E89-4F87-B28F-B6BE47F71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556932"/>
            <a:ext cx="3360771" cy="331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Para alguns autores, a matriz de partes interessadas contribui para o gerenciamento de riscos.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11A2D8-7E50-4DD0-9E90-82A474F7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3F3831-0FDE-4FD4-986F-34055976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97799C9-84D9-46D2-A11E-BCF8A720529D}" type="slidenum">
              <a:rPr lang="en-US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885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6080E-D74F-4178-85EE-A4FA8A22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Área de conhecimento de custos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182876-7570-4CA6-85BA-B923C7DBE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9559" y="2560320"/>
            <a:ext cx="5187193" cy="3310128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AutoNum type="arabicPeriod"/>
            </a:pPr>
            <a:r>
              <a:rPr lang="pt-BR" dirty="0"/>
              <a:t>Se refere aos recursos físicos, intelectuais e financeiros necessários para o desempenho das atividades. </a:t>
            </a:r>
          </a:p>
          <a:p>
            <a:pPr marL="457200" indent="-457200">
              <a:buAutoNum type="arabicPeriod"/>
            </a:pPr>
            <a:r>
              <a:rPr lang="pt-BR" dirty="0"/>
              <a:t>Do ponto de vista do ciclo de vida de projetos significa a disciplina em relação ao ciclo estimativa, orçamento e controle de despesas. </a:t>
            </a:r>
          </a:p>
          <a:p>
            <a:pPr marL="457200" indent="-457200">
              <a:buAutoNum type="arabicPeriod"/>
            </a:pPr>
            <a:r>
              <a:rPr lang="pt-BR" dirty="0"/>
              <a:t>O orçamento é o documento que orienta como atuar em cada uma das despesas planejadas e o volume previsto para ser alocado em cada uma delas. </a:t>
            </a:r>
          </a:p>
          <a:p>
            <a:pPr marL="457200" indent="-457200">
              <a:buAutoNum type="arabicPeriod"/>
            </a:pPr>
            <a:r>
              <a:rPr lang="pt-BR" dirty="0"/>
              <a:t>Podem acontecer variações entre o valor planejado os custos reais de uma atividade e, eventualmente o valor agregado que mantém o valor planejado do orçamento.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DB0E93-FCA7-4D37-B89E-92F598AA8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05E31DD-56E4-4A4E-B1B4-64624B57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Espaço Reservado para Conteúdo 7" descr="Resultado de imagem para PMBoK Plano de gerenciamento de custos imagens">
            <a:hlinkClick r:id="rId2" tgtFrame="&quot;_blank&quot;"/>
            <a:extLst>
              <a:ext uri="{FF2B5EF4-FFF2-40B4-BE49-F238E27FC236}">
                <a16:creationId xmlns:a16="http://schemas.microsoft.com/office/drawing/2014/main" id="{F27ED6F4-620A-46E7-B2DA-560252F49390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4" y="2560319"/>
            <a:ext cx="4866489" cy="33101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0437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01371-618E-4E6A-8125-A73563DBD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Custos (cont.)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A25D5F-2E7C-48AB-98E9-846B1CE7C3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Custos em protótipos:</a:t>
            </a:r>
          </a:p>
          <a:p>
            <a:pPr marL="457200" indent="-457200">
              <a:buAutoNum type="arabicPeriod"/>
            </a:pPr>
            <a:r>
              <a:rPr lang="pt-BR" dirty="0"/>
              <a:t>Demonstra a organização de conhecimento no time.</a:t>
            </a:r>
          </a:p>
          <a:p>
            <a:pPr marL="457200" indent="-457200">
              <a:buAutoNum type="arabicPeriod"/>
            </a:pPr>
            <a:r>
              <a:rPr lang="pt-BR" dirty="0"/>
              <a:t>Revela como o grupo previne e riscos e os seus custos em uma escala menor.</a:t>
            </a:r>
          </a:p>
          <a:p>
            <a:pPr marL="457200" indent="-457200">
              <a:buAutoNum type="arabicPeriod"/>
            </a:pPr>
            <a:r>
              <a:rPr lang="pt-BR" dirty="0"/>
              <a:t>Prepara o investimento para uma escala de maior impacto. </a:t>
            </a:r>
          </a:p>
        </p:txBody>
      </p:sp>
      <p:pic>
        <p:nvPicPr>
          <p:cNvPr id="8" name="Espaço Reservado para Conteúdo 7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B4590C89-90AD-412C-9A45-D8BF8C633E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5385" y="2488676"/>
            <a:ext cx="5071621" cy="3480324"/>
          </a:xfrm>
        </p:spPr>
      </p:pic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4CDCDB-3C83-47DD-83D8-AEA0AFE8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5CCDD2-9E72-4292-B42A-DAF796A3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129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8D76A-E47E-4A13-8EB2-471711B7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Área de Conhecimento de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7F529C-79EE-43F4-9BE7-3DCFEE30A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7839" y="2560320"/>
            <a:ext cx="5158913" cy="33101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1. Compreende os processos e as atividades da organização que executam as políticas de qualidade no geral, as metas (responsabilidades) para grupos e indivíduos de tal maneira que satisfaçam as necessidades dos clientes de forma contínua. Essa área de conhecimento pode ser sintetizada em uma pergunta básica: Como manter o escopo e o planejamento iniciais para assegurar o êxito do projeto?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2D6CA1-0CDC-472F-BDFB-C0C87682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C7C846-7B88-489F-8C5B-9CCCAE1B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Espaço Reservado para Conteúdo 6" descr="Imagem relacionada">
            <a:hlinkClick r:id="rId2" tgtFrame="&quot;_blank&quot;"/>
            <a:extLst>
              <a:ext uri="{FF2B5EF4-FFF2-40B4-BE49-F238E27FC236}">
                <a16:creationId xmlns:a16="http://schemas.microsoft.com/office/drawing/2014/main" id="{75D10272-B25C-4D38-BBB2-92D2AB9A2090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826" y="2560638"/>
            <a:ext cx="4920790" cy="3408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3052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F3EC3-B172-4114-92C5-8D6EA5E9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(cont.)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07CD09-3610-4D25-A7B5-F1900436A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1621" y="2560320"/>
            <a:ext cx="4975131" cy="3310128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pt-BR" dirty="0"/>
              <a:t>Outras perguntas também podem ser feitas no ciclo permanente de planejar (como definir os padrões de qualidade?), realizar a garantia de qualidade (como atender aos padrões de qualidade?), realizar o controle de qualidade (como monitorar registrar e interpretar o registro das ações de qualidade?). A figura a seguir contribui para uma síntese dessa área de conhecimento.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B9F59133-6E41-4330-99F0-A8C4FCD79E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91373" y="2560320"/>
            <a:ext cx="4270342" cy="3408680"/>
          </a:xfrm>
        </p:spPr>
      </p:pic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C8163E-9D9E-471F-9483-8770AD4A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E3722E-A588-4E8B-942A-1D37BD3F4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451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5077E-621D-4F25-A7BD-E6E66AB2A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Área de conhecimento de Recursos Humanos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E38401-0A06-44A1-88FF-11751F27A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7423" y="2560320"/>
            <a:ext cx="5269329" cy="331012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pt-BR" dirty="0"/>
              <a:t>1. Envolve a preocupação de como melhor alocar e gerenciar as pessoas para aprimorar o projeto. Significa também incorporar todas as pessoas interessadas: patrocinadores, clientes, parceiros, colaboradores, agentes das agências de regulação. </a:t>
            </a:r>
          </a:p>
          <a:p>
            <a:pPr marL="0" indent="0" algn="just">
              <a:buNone/>
            </a:pPr>
            <a:r>
              <a:rPr lang="pt-BR" dirty="0"/>
              <a:t>2. Esta muito relacionada com a formação da equipe de projetos através da seleção de perfis de conhecimento e comportamento adequados. Envolve habilidades de liderança, negociação, comunicação, delegar e receber atribuições e gerenciamento de conflitos.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D8658D-5111-42C7-B2E0-99934D9D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9265F1-7BBE-459B-97BA-5DA974DA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Espaço Reservado para Conteúdo 6" descr="Resultado de imagem para PMBoK Plano de gerenciamento de qualidade imagens">
            <a:hlinkClick r:id="rId2" tgtFrame="&quot;_blank&quot;"/>
            <a:extLst>
              <a:ext uri="{FF2B5EF4-FFF2-40B4-BE49-F238E27FC236}">
                <a16:creationId xmlns:a16="http://schemas.microsoft.com/office/drawing/2014/main" id="{EE5BE10F-704E-4A47-A6E0-6F3E7E35976F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250" y="2560320"/>
            <a:ext cx="5023793" cy="31328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4838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938033-0537-44FB-82BC-2F259B07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800" dirty="0">
                <a:solidFill>
                  <a:srgbClr val="262626"/>
                </a:solidFill>
              </a:rPr>
              <a:t>Área de Conhecimento de Comunicação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37609-2CF4-4CFF-AACE-7A8530574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504" y="2430471"/>
            <a:ext cx="3310875" cy="3552039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457200" indent="-457200">
              <a:buAutoNum type="arabicPeriod"/>
            </a:pPr>
            <a:r>
              <a:rPr lang="pt-BR" dirty="0"/>
              <a:t>Uma área em crescimento na gerência de projeto pois envolve a interação com informação, codificação entre os agentes da empresa como um todo e com os membros do projeto em particular.</a:t>
            </a:r>
          </a:p>
          <a:p>
            <a:pPr marL="457200" indent="-457200">
              <a:buAutoNum type="arabicPeriod"/>
            </a:pPr>
            <a:r>
              <a:rPr lang="pt-BR" dirty="0"/>
              <a:t> 2. Faz parte dessa área de conhecimento o planejamento da comunicação para as partes interessadas poderem tomar as decisões sob sua responsabilidade.</a:t>
            </a:r>
          </a:p>
          <a:p>
            <a:pPr marL="457200" indent="-457200">
              <a:buAutoNum type="arabicPeriod"/>
            </a:pPr>
            <a:r>
              <a:rPr lang="pt-BR" dirty="0"/>
              <a:t> Reportar desempenho do projeto, por meio de relatórios específicos para os diferentes públicos envolvidos no projeto.</a:t>
            </a:r>
          </a:p>
          <a:p>
            <a:endParaRPr lang="en-US" sz="1800" dirty="0">
              <a:solidFill>
                <a:srgbClr val="262626"/>
              </a:solidFill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Espaço Reservado para Conteúdo 6" descr="Imagem relacionada">
            <a:hlinkClick r:id="rId5" tgtFrame="&quot;_blank&quot;"/>
            <a:extLst>
              <a:ext uri="{FF2B5EF4-FFF2-40B4-BE49-F238E27FC236}">
                <a16:creationId xmlns:a16="http://schemas.microsoft.com/office/drawing/2014/main" id="{4C3E512C-D4C8-4351-9A2F-AA8DA22301EB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35910" y="496090"/>
            <a:ext cx="6098041" cy="5685861"/>
          </a:xfrm>
          <a:prstGeom prst="rect">
            <a:avLst/>
          </a:prstGeom>
          <a:noFill/>
        </p:spPr>
      </p:pic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CE6840-99D3-434C-BEFD-261EDC961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8466" y="6379383"/>
            <a:ext cx="3649133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CF79BE-42A7-4191-9CF7-1BB0D7B5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630" y="6379383"/>
            <a:ext cx="542697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D84065D-F351-4B03-BD91-D8A6B8D4B362}" type="slidenum">
              <a:rPr lang="en-US" smtClean="0"/>
              <a:pPr defTabSz="914400">
                <a:spcAft>
                  <a:spcPts val="600"/>
                </a:spcAft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403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13F76-00DB-4FC1-8E17-F5491CD1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Área de conhecimento de aquisições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E9B6BA-BDB6-4973-A5C2-3D55433223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pt-BR" dirty="0"/>
              <a:t>1. Processos que orientam a aquisição de bens e serviços necessários a fim de contribuir para a manutenção do orçamento, cumprir o escopo e garantir a execução das demais etapas do ciclo de vida de projeto até o seu encerramento.</a:t>
            </a:r>
          </a:p>
          <a:p>
            <a:pPr marL="0" indent="0" algn="just">
              <a:buNone/>
            </a:pPr>
            <a:r>
              <a:rPr lang="pt-BR" dirty="0"/>
              <a:t>2. As atividades relacionadas são: planejar (quais produtos, quais fornecedores quais preços), Conduzir (seleção de fornecedores, contratos e controle sobre entregas), Administrar (monitoramento do produto e do fornecedor) encerrar (finalizar as aquisições e contratos antes da fase de encerramento do ciclo de vida do projeto).</a:t>
            </a:r>
          </a:p>
          <a:p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7CDD65EB-0542-495B-BF59-B830C3D6E2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3348" y="2403835"/>
            <a:ext cx="4289196" cy="3565165"/>
          </a:xfrm>
          <a:prstGeom prst="rect">
            <a:avLst/>
          </a:prstGeom>
        </p:spPr>
      </p:pic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927E48-901F-4669-B30C-2EA66A18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833520-9E61-4924-A0EE-06D3D774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222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46FEC-6E96-49B2-A512-DE781657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Área de conhecimento de integração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0BB3F7-D509-4F33-B14F-62A66A42F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7179" y="2560320"/>
            <a:ext cx="5229573" cy="3310128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buAutoNum type="arabicPeriod"/>
            </a:pPr>
            <a:r>
              <a:rPr lang="pt-BR" dirty="0"/>
              <a:t>Embora esteja sendo abordado aqui a área de gerenciamento da integração é feita desde o início e exerce importante papel nas etapas de execução e encerramento. </a:t>
            </a:r>
          </a:p>
          <a:p>
            <a:pPr marL="457200" indent="-457200">
              <a:buAutoNum type="arabicPeriod"/>
            </a:pPr>
            <a:r>
              <a:rPr lang="pt-BR" dirty="0"/>
              <a:t>Essa área é responsável por identificar, definir, combinar, unificar e coordenar as atividades que geram os fluxos de conhecimento que garantem a consolidação do projeto.  </a:t>
            </a:r>
          </a:p>
          <a:p>
            <a:pPr marL="457200" indent="-457200">
              <a:buAutoNum type="arabicPeriod"/>
            </a:pPr>
            <a:r>
              <a:rPr lang="pt-BR" dirty="0"/>
              <a:t>Implica também em fazer escolhas sobre quais pontos o projeto deve concentrar recursos, esforços, tempo, dedicação para antecipar riscos. </a:t>
            </a:r>
          </a:p>
          <a:p>
            <a:pPr marL="457200" indent="-457200">
              <a:buAutoNum type="arabicPeriod"/>
            </a:pPr>
            <a:r>
              <a:rPr lang="pt-BR" dirty="0"/>
              <a:t>A integração articula soluções capazes de mediar objetivos e alternativas conflitantes. Assim as atividades em vários processos ficam de certa forma conectadas e integradas, o que permite conclusões que são transformadas em propostas e soluções.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15745E-CB61-4C99-8785-89A7C18AF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1F5C6C-0F62-45A1-90AC-B5AB405E5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20</a:t>
            </a:fld>
            <a:endParaRPr lang="en-US" dirty="0"/>
          </a:p>
        </p:txBody>
      </p:sp>
      <p:pic>
        <p:nvPicPr>
          <p:cNvPr id="1027" name="Picture 3" descr="Resultado de imagem para Aquisições no PMBok imagens">
            <a:hlinkClick r:id="rId2"/>
            <a:extLst>
              <a:ext uri="{FF2B5EF4-FFF2-40B4-BE49-F238E27FC236}">
                <a16:creationId xmlns:a16="http://schemas.microsoft.com/office/drawing/2014/main" id="{3ED29DDA-9805-491B-9115-E86833B6996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250" y="2560321"/>
            <a:ext cx="4721348" cy="3208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646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8D2B9-BFEA-4BC2-AB1A-060C1170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Sugestões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2B875A-8F61-49A4-BC9D-7D0CB2779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1852" y="2384551"/>
            <a:ext cx="5218805" cy="3485897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pt-BR" sz="3400" dirty="0"/>
              <a:t>1. A sugestão final desse roteiro é dirigida para o “espírito do projeto”. Embora tenham sido aqui apresentados alguns conceitos, a proposta é uma redação prática e coerente com o escopo do projeto. Um projeto bem escrito dispensa toda a discussão teórica formal nele, ela flui na integração das suas áreas de conhecimento. Para recordar: o escopo bem formulado permite a definição mais correta de tempo, com impactos sobre custos qualidade, riscos e todo o projeto.</a:t>
            </a:r>
          </a:p>
          <a:p>
            <a:pPr marL="0" indent="0" algn="just">
              <a:buNone/>
            </a:pPr>
            <a:r>
              <a:rPr lang="pt-BR" sz="3400" dirty="0"/>
              <a:t>2. A redação prática também pressupõe o engajamento efetivo do grupo (área de recursos humanos) e a comunicação com as partes interessadas para a melhor organização e distribuição de tarefas. O projeto não está descolado das ações dos seus membros, ele é a expressão da sua dinâmica. Por esse motivo, embora com o mesmo método dois projetos não são iguais: a dinâmica interna de cada grupo pode gerar diferenciais que cativem o cliente.</a:t>
            </a:r>
          </a:p>
          <a:p>
            <a:pPr marL="0" indent="0" algn="just">
              <a:buNone/>
            </a:pPr>
            <a:r>
              <a:rPr lang="pt-BR" sz="3400" dirty="0"/>
              <a:t>3. Esperar-se pesquisa dentro das contribuições possíveis do PMBoK, iniciativa, criatividade nas suas aplicações e comprometimento com a realização das expectativas das organizações parceiras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84DE5D73-2F9A-405C-9F54-F5AF453F34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8825" y="2516957"/>
            <a:ext cx="4845377" cy="3353491"/>
          </a:xfrm>
        </p:spPr>
      </p:pic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AC819-1147-43F8-A3B1-AD70ECBB3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AAFB7D-965B-4C5C-B9F1-5F383054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869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7E67E-BA2A-4C17-9F07-B63225F5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Concluir, a arte de seduzir o investidor...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F4AA68-E1B6-4DEC-BF20-21FA3C41E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2998" y="2560320"/>
            <a:ext cx="5243754" cy="3310128"/>
          </a:xfrm>
        </p:spPr>
        <p:txBody>
          <a:bodyPr>
            <a:normAutofit fontScale="70000" lnSpcReduction="20000"/>
          </a:bodyPr>
          <a:lstStyle/>
          <a:p>
            <a:pPr marL="457200" indent="-457200" algn="just">
              <a:buAutoNum type="arabicPeriod"/>
            </a:pPr>
            <a:r>
              <a:rPr lang="pt-BR" dirty="0"/>
              <a:t>Concluir é um dos passos mais importantes do gerenciamento de projetos, pois sintetiza de forma clara as lições aprendidas. </a:t>
            </a:r>
          </a:p>
          <a:p>
            <a:pPr marL="457200" indent="-457200" algn="just">
              <a:buAutoNum type="arabicPeriod"/>
            </a:pPr>
            <a:r>
              <a:rPr lang="pt-BR" dirty="0"/>
              <a:t>Deixar para concluir no relatório final pode ser muito desgastante. </a:t>
            </a:r>
          </a:p>
          <a:p>
            <a:pPr marL="457200" indent="-457200" algn="just">
              <a:buAutoNum type="arabicPeriod"/>
            </a:pPr>
            <a:r>
              <a:rPr lang="pt-BR" dirty="0"/>
              <a:t>Cada entregável ensina muito ao gestor e aos membros do time de projeto, contribui também para as diversas partes interessadas reverem as suas metas, critérios e para o processo de integração. </a:t>
            </a:r>
          </a:p>
          <a:p>
            <a:pPr marL="457200" indent="-457200" algn="just">
              <a:buAutoNum type="arabicPeriod"/>
            </a:pPr>
            <a:r>
              <a:rPr lang="pt-BR" dirty="0"/>
              <a:t>As conclusões de cada etapa, retrata a situação daquele time, seus pontos fortes e fracos. Por esses motivos vale a pena o esforço de concluir e refletir sobre o andamento do projeto em cada uma das suas fases.</a:t>
            </a:r>
          </a:p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E7A5B9-CE09-452B-9ACF-4D743285F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BFBCB3-9264-4546-98B8-31514EC5C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22</a:t>
            </a:fld>
            <a:endParaRPr lang="en-US" dirty="0"/>
          </a:p>
        </p:txBody>
      </p:sp>
      <p:pic>
        <p:nvPicPr>
          <p:cNvPr id="2051" name="Picture 3" descr="Resultado de imagem para negociação imagens">
            <a:hlinkClick r:id="rId2"/>
            <a:extLst>
              <a:ext uri="{FF2B5EF4-FFF2-40B4-BE49-F238E27FC236}">
                <a16:creationId xmlns:a16="http://schemas.microsoft.com/office/drawing/2014/main" id="{B2C9F2D8-0D99-4802-9FB4-2B98A3CA7F1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60320"/>
            <a:ext cx="4914507" cy="3142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9151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1807</Words>
  <Application>Microsoft Office PowerPoint</Application>
  <PresentationFormat>Widescreen</PresentationFormat>
  <Paragraphs>99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Garamond</vt:lpstr>
      <vt:lpstr>Orgânico</vt:lpstr>
      <vt:lpstr>Documentação projeto CyberCup FIAP 2019</vt:lpstr>
      <vt:lpstr>Entendo melhor a missão da documentação</vt:lpstr>
      <vt:lpstr>Entendo melhor a missão da documentação</vt:lpstr>
      <vt:lpstr>O ciclo de vida do Projeto</vt:lpstr>
      <vt:lpstr>Ciclo de vida e protótipo</vt:lpstr>
      <vt:lpstr>Áreas de conhecimento</vt:lpstr>
      <vt:lpstr>Área de conhecimento do escopo</vt:lpstr>
      <vt:lpstr>Área de conhecimento de tempo</vt:lpstr>
      <vt:lpstr>Exemplo de um Cronograma</vt:lpstr>
      <vt:lpstr>Área de Conhecimento dos riscos</vt:lpstr>
      <vt:lpstr>Riscos (continuação)</vt:lpstr>
      <vt:lpstr>Riscos (cont.)</vt:lpstr>
      <vt:lpstr>Área de conhecimento de custos</vt:lpstr>
      <vt:lpstr>Custos (cont.)</vt:lpstr>
      <vt:lpstr>Área de Conhecimento de Qualidade</vt:lpstr>
      <vt:lpstr>Qualidade (cont.)</vt:lpstr>
      <vt:lpstr>Área de conhecimento de Recursos Humanos</vt:lpstr>
      <vt:lpstr>Área de Conhecimento de Comunicação</vt:lpstr>
      <vt:lpstr>Área de conhecimento de aquisições</vt:lpstr>
      <vt:lpstr>Área de conhecimento de integração</vt:lpstr>
      <vt:lpstr>Sugestões Finais</vt:lpstr>
      <vt:lpstr>Concluir, a arte de seduzir o investidor...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Documentação projeto CyberCup FIAP 2019</dc:title>
  <dc:creator>Demerval Luiz Polizelli</dc:creator>
  <cp:lastModifiedBy>Demerval Luiz Polizelli</cp:lastModifiedBy>
  <cp:revision>3</cp:revision>
  <dcterms:created xsi:type="dcterms:W3CDTF">2019-08-15T16:58:30Z</dcterms:created>
  <dcterms:modified xsi:type="dcterms:W3CDTF">2019-08-15T17:14:33Z</dcterms:modified>
</cp:coreProperties>
</file>