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76" r:id="rId3"/>
    <p:sldId id="258" r:id="rId4"/>
    <p:sldId id="277" r:id="rId5"/>
    <p:sldId id="259" r:id="rId6"/>
    <p:sldId id="260" r:id="rId7"/>
    <p:sldId id="257" r:id="rId8"/>
    <p:sldId id="261" r:id="rId9"/>
    <p:sldId id="263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62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5.svg"/><Relationship Id="rId1" Type="http://schemas.openxmlformats.org/officeDocument/2006/relationships/image" Target="../media/image14.png"/><Relationship Id="rId6" Type="http://schemas.openxmlformats.org/officeDocument/2006/relationships/image" Target="../media/image9.svg"/><Relationship Id="rId5" Type="http://schemas.openxmlformats.org/officeDocument/2006/relationships/image" Target="../media/image16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8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0.svg"/><Relationship Id="rId1" Type="http://schemas.openxmlformats.org/officeDocument/2006/relationships/image" Target="../media/image25.png"/><Relationship Id="rId6" Type="http://schemas.openxmlformats.org/officeDocument/2006/relationships/image" Target="../media/image24.svg"/><Relationship Id="rId5" Type="http://schemas.openxmlformats.org/officeDocument/2006/relationships/image" Target="../media/image27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F45BDE-2667-4E8E-AE19-EF216BC17BC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094B721-5E2A-423D-B2B3-302059B787B4}">
      <dgm:prSet/>
      <dgm:spPr/>
      <dgm:t>
        <a:bodyPr/>
        <a:lstStyle/>
        <a:p>
          <a:r>
            <a:rPr lang="pt-BR" dirty="0"/>
            <a:t>Introduzir uma visão quantitativa para a rentabilização do investimento em tecnologia. </a:t>
          </a:r>
          <a:endParaRPr lang="en-US" dirty="0"/>
        </a:p>
      </dgm:t>
    </dgm:pt>
    <dgm:pt modelId="{8B18B788-372E-49CD-AA45-D4F0AC848FC0}" type="parTrans" cxnId="{3ED6C243-7B2A-4767-9999-D19BC259B0A8}">
      <dgm:prSet/>
      <dgm:spPr/>
      <dgm:t>
        <a:bodyPr/>
        <a:lstStyle/>
        <a:p>
          <a:endParaRPr lang="en-US"/>
        </a:p>
      </dgm:t>
    </dgm:pt>
    <dgm:pt modelId="{F37C4857-BC74-4700-88F4-BC648C32420A}" type="sibTrans" cxnId="{3ED6C243-7B2A-4767-9999-D19BC259B0A8}">
      <dgm:prSet/>
      <dgm:spPr/>
      <dgm:t>
        <a:bodyPr/>
        <a:lstStyle/>
        <a:p>
          <a:endParaRPr lang="en-US"/>
        </a:p>
      </dgm:t>
    </dgm:pt>
    <dgm:pt modelId="{59614CB6-9B49-455C-9CE5-89050E9CC02A}">
      <dgm:prSet/>
      <dgm:spPr/>
      <dgm:t>
        <a:bodyPr/>
        <a:lstStyle/>
        <a:p>
          <a:r>
            <a:rPr lang="pt-BR" dirty="0"/>
            <a:t>Apresentar o conceito e aplicações de Valor Presente.</a:t>
          </a:r>
          <a:endParaRPr lang="en-US" dirty="0"/>
        </a:p>
      </dgm:t>
    </dgm:pt>
    <dgm:pt modelId="{E627BCE2-51F9-4668-8DB5-2439B12D4677}" type="parTrans" cxnId="{26C8C7E3-0096-4BB2-88AB-ADD905888D31}">
      <dgm:prSet/>
      <dgm:spPr/>
      <dgm:t>
        <a:bodyPr/>
        <a:lstStyle/>
        <a:p>
          <a:endParaRPr lang="en-US"/>
        </a:p>
      </dgm:t>
    </dgm:pt>
    <dgm:pt modelId="{34B18770-1015-4D4D-805A-9B7A3483FAEF}" type="sibTrans" cxnId="{26C8C7E3-0096-4BB2-88AB-ADD905888D31}">
      <dgm:prSet/>
      <dgm:spPr/>
      <dgm:t>
        <a:bodyPr/>
        <a:lstStyle/>
        <a:p>
          <a:endParaRPr lang="en-US"/>
        </a:p>
      </dgm:t>
    </dgm:pt>
    <dgm:pt modelId="{1330A7BF-CEE5-43C0-B69F-55CA89E662A4}">
      <dgm:prSet/>
      <dgm:spPr/>
      <dgm:t>
        <a:bodyPr/>
        <a:lstStyle/>
        <a:p>
          <a:r>
            <a:rPr lang="pt-BR"/>
            <a:t>Introduzir o conceito de Valor Presente Liquido.</a:t>
          </a:r>
          <a:endParaRPr lang="en-US"/>
        </a:p>
      </dgm:t>
    </dgm:pt>
    <dgm:pt modelId="{69BA9560-11B0-4B5D-B734-46C5C785E0EA}" type="parTrans" cxnId="{A2C0AC9B-25C2-4107-B6EA-8BF48B233EFB}">
      <dgm:prSet/>
      <dgm:spPr/>
      <dgm:t>
        <a:bodyPr/>
        <a:lstStyle/>
        <a:p>
          <a:endParaRPr lang="en-US"/>
        </a:p>
      </dgm:t>
    </dgm:pt>
    <dgm:pt modelId="{6DFBEB6A-8C19-41A8-A455-C0C77DD451F5}" type="sibTrans" cxnId="{A2C0AC9B-25C2-4107-B6EA-8BF48B233EFB}">
      <dgm:prSet/>
      <dgm:spPr/>
      <dgm:t>
        <a:bodyPr/>
        <a:lstStyle/>
        <a:p>
          <a:endParaRPr lang="en-US"/>
        </a:p>
      </dgm:t>
    </dgm:pt>
    <dgm:pt modelId="{ED953596-E5E7-402E-A6D2-3241298E0D89}">
      <dgm:prSet/>
      <dgm:spPr/>
      <dgm:t>
        <a:bodyPr/>
        <a:lstStyle/>
        <a:p>
          <a:r>
            <a:rPr lang="pt-BR" dirty="0"/>
            <a:t>Introduzir conceito e aplicações de Valor Futuro. </a:t>
          </a:r>
          <a:endParaRPr lang="en-US" dirty="0"/>
        </a:p>
      </dgm:t>
    </dgm:pt>
    <dgm:pt modelId="{E89F44E4-6B4A-47D7-A458-939A4923C4A4}" type="parTrans" cxnId="{BB944CC9-7E71-43B4-B3CA-0FC1F3738652}">
      <dgm:prSet/>
      <dgm:spPr/>
      <dgm:t>
        <a:bodyPr/>
        <a:lstStyle/>
        <a:p>
          <a:endParaRPr lang="en-US"/>
        </a:p>
      </dgm:t>
    </dgm:pt>
    <dgm:pt modelId="{8EDA02A6-FD11-47CB-9BA4-3E3B8584CD2A}" type="sibTrans" cxnId="{BB944CC9-7E71-43B4-B3CA-0FC1F3738652}">
      <dgm:prSet/>
      <dgm:spPr/>
      <dgm:t>
        <a:bodyPr/>
        <a:lstStyle/>
        <a:p>
          <a:endParaRPr lang="en-US"/>
        </a:p>
      </dgm:t>
    </dgm:pt>
    <dgm:pt modelId="{524611BB-EAEB-47DD-B975-FC6EB4EC0D7E}">
      <dgm:prSet/>
      <dgm:spPr/>
      <dgm:t>
        <a:bodyPr/>
        <a:lstStyle/>
        <a:p>
          <a:r>
            <a:rPr lang="pt-BR" dirty="0"/>
            <a:t>Preparar critérios de diferenciação de projetos.</a:t>
          </a:r>
          <a:endParaRPr lang="en-US" dirty="0"/>
        </a:p>
      </dgm:t>
    </dgm:pt>
    <dgm:pt modelId="{8ADD2C81-363A-4599-B70B-7A565F5390B0}" type="parTrans" cxnId="{D1ED64E9-99F6-4A85-BBAD-56D324B4BEA2}">
      <dgm:prSet/>
      <dgm:spPr/>
      <dgm:t>
        <a:bodyPr/>
        <a:lstStyle/>
        <a:p>
          <a:endParaRPr lang="en-US"/>
        </a:p>
      </dgm:t>
    </dgm:pt>
    <dgm:pt modelId="{76E6DC17-44DD-439D-9B6D-502F0EE4FB7C}" type="sibTrans" cxnId="{D1ED64E9-99F6-4A85-BBAD-56D324B4BEA2}">
      <dgm:prSet/>
      <dgm:spPr/>
      <dgm:t>
        <a:bodyPr/>
        <a:lstStyle/>
        <a:p>
          <a:endParaRPr lang="en-US"/>
        </a:p>
      </dgm:t>
    </dgm:pt>
    <dgm:pt modelId="{5EF5FBB3-1200-4701-85A5-1036E291A2D2}" type="pres">
      <dgm:prSet presAssocID="{91F45BDE-2667-4E8E-AE19-EF216BC17BCC}" presName="root" presStyleCnt="0">
        <dgm:presLayoutVars>
          <dgm:dir/>
          <dgm:resizeHandles val="exact"/>
        </dgm:presLayoutVars>
      </dgm:prSet>
      <dgm:spPr/>
    </dgm:pt>
    <dgm:pt modelId="{EE5D9414-F2F4-4A04-8043-21FA02C1786E}" type="pres">
      <dgm:prSet presAssocID="{4094B721-5E2A-423D-B2B3-302059B787B4}" presName="compNode" presStyleCnt="0"/>
      <dgm:spPr/>
    </dgm:pt>
    <dgm:pt modelId="{8C2B65F7-68D9-4282-8A09-57503DEEBF85}" type="pres">
      <dgm:prSet presAssocID="{4094B721-5E2A-423D-B2B3-302059B787B4}" presName="bgRect" presStyleLbl="bgShp" presStyleIdx="0" presStyleCnt="5"/>
      <dgm:spPr/>
    </dgm:pt>
    <dgm:pt modelId="{558C0240-17E3-402D-8CC2-D6CA329279CD}" type="pres">
      <dgm:prSet presAssocID="{4094B721-5E2A-423D-B2B3-302059B787B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CDF40ADC-6951-4891-A900-A5CE29902F65}" type="pres">
      <dgm:prSet presAssocID="{4094B721-5E2A-423D-B2B3-302059B787B4}" presName="spaceRect" presStyleCnt="0"/>
      <dgm:spPr/>
    </dgm:pt>
    <dgm:pt modelId="{CB09A407-6362-4081-B21D-579B0289A412}" type="pres">
      <dgm:prSet presAssocID="{4094B721-5E2A-423D-B2B3-302059B787B4}" presName="parTx" presStyleLbl="revTx" presStyleIdx="0" presStyleCnt="5">
        <dgm:presLayoutVars>
          <dgm:chMax val="0"/>
          <dgm:chPref val="0"/>
        </dgm:presLayoutVars>
      </dgm:prSet>
      <dgm:spPr/>
    </dgm:pt>
    <dgm:pt modelId="{B6DAFF81-5B4A-4FB9-AD39-87094B91BD51}" type="pres">
      <dgm:prSet presAssocID="{F37C4857-BC74-4700-88F4-BC648C32420A}" presName="sibTrans" presStyleCnt="0"/>
      <dgm:spPr/>
    </dgm:pt>
    <dgm:pt modelId="{8011B5E8-29BF-4245-9AF0-5F19E9A56B47}" type="pres">
      <dgm:prSet presAssocID="{59614CB6-9B49-455C-9CE5-89050E9CC02A}" presName="compNode" presStyleCnt="0"/>
      <dgm:spPr/>
    </dgm:pt>
    <dgm:pt modelId="{48C41883-7E1F-4C0F-B312-B422E061D6A8}" type="pres">
      <dgm:prSet presAssocID="{59614CB6-9B49-455C-9CE5-89050E9CC02A}" presName="bgRect" presStyleLbl="bgShp" presStyleIdx="1" presStyleCnt="5"/>
      <dgm:spPr/>
    </dgm:pt>
    <dgm:pt modelId="{E0164FBC-46FD-4740-8B16-165412C563E0}" type="pres">
      <dgm:prSet presAssocID="{59614CB6-9B49-455C-9CE5-89050E9CC02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"/>
        </a:ext>
      </dgm:extLst>
    </dgm:pt>
    <dgm:pt modelId="{03C017D0-F000-4004-826A-92D58EA04845}" type="pres">
      <dgm:prSet presAssocID="{59614CB6-9B49-455C-9CE5-89050E9CC02A}" presName="spaceRect" presStyleCnt="0"/>
      <dgm:spPr/>
    </dgm:pt>
    <dgm:pt modelId="{04B51959-EE70-4B24-91AD-1157E1BD1CB5}" type="pres">
      <dgm:prSet presAssocID="{59614CB6-9B49-455C-9CE5-89050E9CC02A}" presName="parTx" presStyleLbl="revTx" presStyleIdx="1" presStyleCnt="5">
        <dgm:presLayoutVars>
          <dgm:chMax val="0"/>
          <dgm:chPref val="0"/>
        </dgm:presLayoutVars>
      </dgm:prSet>
      <dgm:spPr/>
    </dgm:pt>
    <dgm:pt modelId="{1A745A4B-744A-49CD-B040-BEDB2423249E}" type="pres">
      <dgm:prSet presAssocID="{34B18770-1015-4D4D-805A-9B7A3483FAEF}" presName="sibTrans" presStyleCnt="0"/>
      <dgm:spPr/>
    </dgm:pt>
    <dgm:pt modelId="{015A9C0F-43F8-4A32-8D4B-C93BB77076D6}" type="pres">
      <dgm:prSet presAssocID="{1330A7BF-CEE5-43C0-B69F-55CA89E662A4}" presName="compNode" presStyleCnt="0"/>
      <dgm:spPr/>
    </dgm:pt>
    <dgm:pt modelId="{362E7664-33FB-4BD1-8940-BFD80446B8A0}" type="pres">
      <dgm:prSet presAssocID="{1330A7BF-CEE5-43C0-B69F-55CA89E662A4}" presName="bgRect" presStyleLbl="bgShp" presStyleIdx="2" presStyleCnt="5"/>
      <dgm:spPr/>
    </dgm:pt>
    <dgm:pt modelId="{1C9D08C3-EDCD-4928-A637-1DF3EEA571B7}" type="pres">
      <dgm:prSet presAssocID="{1330A7BF-CEE5-43C0-B69F-55CA89E662A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w"/>
        </a:ext>
      </dgm:extLst>
    </dgm:pt>
    <dgm:pt modelId="{C7BAE926-8124-43F8-82B5-064CFF4A5D04}" type="pres">
      <dgm:prSet presAssocID="{1330A7BF-CEE5-43C0-B69F-55CA89E662A4}" presName="spaceRect" presStyleCnt="0"/>
      <dgm:spPr/>
    </dgm:pt>
    <dgm:pt modelId="{E2CCAF67-19A4-4C58-97FB-58C17EFF64FA}" type="pres">
      <dgm:prSet presAssocID="{1330A7BF-CEE5-43C0-B69F-55CA89E662A4}" presName="parTx" presStyleLbl="revTx" presStyleIdx="2" presStyleCnt="5">
        <dgm:presLayoutVars>
          <dgm:chMax val="0"/>
          <dgm:chPref val="0"/>
        </dgm:presLayoutVars>
      </dgm:prSet>
      <dgm:spPr/>
    </dgm:pt>
    <dgm:pt modelId="{1F29D2E3-5927-491E-A17C-E635E057D6CE}" type="pres">
      <dgm:prSet presAssocID="{6DFBEB6A-8C19-41A8-A455-C0C77DD451F5}" presName="sibTrans" presStyleCnt="0"/>
      <dgm:spPr/>
    </dgm:pt>
    <dgm:pt modelId="{F4AEDF61-12AB-466D-9925-7D75AF94C9F4}" type="pres">
      <dgm:prSet presAssocID="{ED953596-E5E7-402E-A6D2-3241298E0D89}" presName="compNode" presStyleCnt="0"/>
      <dgm:spPr/>
    </dgm:pt>
    <dgm:pt modelId="{A9B39876-677C-4097-A021-56B22C86F3C3}" type="pres">
      <dgm:prSet presAssocID="{ED953596-E5E7-402E-A6D2-3241298E0D89}" presName="bgRect" presStyleLbl="bgShp" presStyleIdx="3" presStyleCnt="5"/>
      <dgm:spPr/>
    </dgm:pt>
    <dgm:pt modelId="{77119AD6-0427-4D8B-9240-9AE639B8ACD3}" type="pres">
      <dgm:prSet presAssocID="{ED953596-E5E7-402E-A6D2-3241298E0D8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4035E4E9-CEA4-4A3C-8604-C57714E44714}" type="pres">
      <dgm:prSet presAssocID="{ED953596-E5E7-402E-A6D2-3241298E0D89}" presName="spaceRect" presStyleCnt="0"/>
      <dgm:spPr/>
    </dgm:pt>
    <dgm:pt modelId="{E510CF4B-4422-471F-869E-9459E4A67662}" type="pres">
      <dgm:prSet presAssocID="{ED953596-E5E7-402E-A6D2-3241298E0D89}" presName="parTx" presStyleLbl="revTx" presStyleIdx="3" presStyleCnt="5">
        <dgm:presLayoutVars>
          <dgm:chMax val="0"/>
          <dgm:chPref val="0"/>
        </dgm:presLayoutVars>
      </dgm:prSet>
      <dgm:spPr/>
    </dgm:pt>
    <dgm:pt modelId="{2571FEAA-8BEA-45D6-91ED-9C19A24874B2}" type="pres">
      <dgm:prSet presAssocID="{8EDA02A6-FD11-47CB-9BA4-3E3B8584CD2A}" presName="sibTrans" presStyleCnt="0"/>
      <dgm:spPr/>
    </dgm:pt>
    <dgm:pt modelId="{15C5C8B0-F365-4441-BDED-ACB4746E3FAA}" type="pres">
      <dgm:prSet presAssocID="{524611BB-EAEB-47DD-B975-FC6EB4EC0D7E}" presName="compNode" presStyleCnt="0"/>
      <dgm:spPr/>
    </dgm:pt>
    <dgm:pt modelId="{67A6EE58-69BF-4137-B367-EE521DBEA506}" type="pres">
      <dgm:prSet presAssocID="{524611BB-EAEB-47DD-B975-FC6EB4EC0D7E}" presName="bgRect" presStyleLbl="bgShp" presStyleIdx="4" presStyleCnt="5"/>
      <dgm:spPr/>
    </dgm:pt>
    <dgm:pt modelId="{147ED351-1A56-4B0B-8585-96AB5DB3FEDF}" type="pres">
      <dgm:prSet presAssocID="{524611BB-EAEB-47DD-B975-FC6EB4EC0D7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5B1883FE-6382-42DE-9A29-46ED6FAF8912}" type="pres">
      <dgm:prSet presAssocID="{524611BB-EAEB-47DD-B975-FC6EB4EC0D7E}" presName="spaceRect" presStyleCnt="0"/>
      <dgm:spPr/>
    </dgm:pt>
    <dgm:pt modelId="{A9A87413-ED28-4B6C-9E1A-0EE54EE648D6}" type="pres">
      <dgm:prSet presAssocID="{524611BB-EAEB-47DD-B975-FC6EB4EC0D7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A08E331-73CB-4395-B0AC-FA2AE240FABC}" type="presOf" srcId="{4094B721-5E2A-423D-B2B3-302059B787B4}" destId="{CB09A407-6362-4081-B21D-579B0289A412}" srcOrd="0" destOrd="0" presId="urn:microsoft.com/office/officeart/2018/2/layout/IconVerticalSolidList"/>
    <dgm:cxn modelId="{3A05A65F-3B56-421D-AF1C-B8F5E46DF0DE}" type="presOf" srcId="{59614CB6-9B49-455C-9CE5-89050E9CC02A}" destId="{04B51959-EE70-4B24-91AD-1157E1BD1CB5}" srcOrd="0" destOrd="0" presId="urn:microsoft.com/office/officeart/2018/2/layout/IconVerticalSolidList"/>
    <dgm:cxn modelId="{3ED6C243-7B2A-4767-9999-D19BC259B0A8}" srcId="{91F45BDE-2667-4E8E-AE19-EF216BC17BCC}" destId="{4094B721-5E2A-423D-B2B3-302059B787B4}" srcOrd="0" destOrd="0" parTransId="{8B18B788-372E-49CD-AA45-D4F0AC848FC0}" sibTransId="{F37C4857-BC74-4700-88F4-BC648C32420A}"/>
    <dgm:cxn modelId="{E5437165-FE19-49CC-88DC-F5C2ACBA99D9}" type="presOf" srcId="{1330A7BF-CEE5-43C0-B69F-55CA89E662A4}" destId="{E2CCAF67-19A4-4C58-97FB-58C17EFF64FA}" srcOrd="0" destOrd="0" presId="urn:microsoft.com/office/officeart/2018/2/layout/IconVerticalSolidList"/>
    <dgm:cxn modelId="{C9089693-300A-4447-9810-7EA9CC2289A3}" type="presOf" srcId="{91F45BDE-2667-4E8E-AE19-EF216BC17BCC}" destId="{5EF5FBB3-1200-4701-85A5-1036E291A2D2}" srcOrd="0" destOrd="0" presId="urn:microsoft.com/office/officeart/2018/2/layout/IconVerticalSolidList"/>
    <dgm:cxn modelId="{A2C0AC9B-25C2-4107-B6EA-8BF48B233EFB}" srcId="{91F45BDE-2667-4E8E-AE19-EF216BC17BCC}" destId="{1330A7BF-CEE5-43C0-B69F-55CA89E662A4}" srcOrd="2" destOrd="0" parTransId="{69BA9560-11B0-4B5D-B734-46C5C785E0EA}" sibTransId="{6DFBEB6A-8C19-41A8-A455-C0C77DD451F5}"/>
    <dgm:cxn modelId="{62DD13B0-3138-4EAD-B0B2-E5180D83662D}" type="presOf" srcId="{ED953596-E5E7-402E-A6D2-3241298E0D89}" destId="{E510CF4B-4422-471F-869E-9459E4A67662}" srcOrd="0" destOrd="0" presId="urn:microsoft.com/office/officeart/2018/2/layout/IconVerticalSolidList"/>
    <dgm:cxn modelId="{BB944CC9-7E71-43B4-B3CA-0FC1F3738652}" srcId="{91F45BDE-2667-4E8E-AE19-EF216BC17BCC}" destId="{ED953596-E5E7-402E-A6D2-3241298E0D89}" srcOrd="3" destOrd="0" parTransId="{E89F44E4-6B4A-47D7-A458-939A4923C4A4}" sibTransId="{8EDA02A6-FD11-47CB-9BA4-3E3B8584CD2A}"/>
    <dgm:cxn modelId="{3BFDF3D6-CDF5-4578-B47A-4EA2E7559812}" type="presOf" srcId="{524611BB-EAEB-47DD-B975-FC6EB4EC0D7E}" destId="{A9A87413-ED28-4B6C-9E1A-0EE54EE648D6}" srcOrd="0" destOrd="0" presId="urn:microsoft.com/office/officeart/2018/2/layout/IconVerticalSolidList"/>
    <dgm:cxn modelId="{26C8C7E3-0096-4BB2-88AB-ADD905888D31}" srcId="{91F45BDE-2667-4E8E-AE19-EF216BC17BCC}" destId="{59614CB6-9B49-455C-9CE5-89050E9CC02A}" srcOrd="1" destOrd="0" parTransId="{E627BCE2-51F9-4668-8DB5-2439B12D4677}" sibTransId="{34B18770-1015-4D4D-805A-9B7A3483FAEF}"/>
    <dgm:cxn modelId="{D1ED64E9-99F6-4A85-BBAD-56D324B4BEA2}" srcId="{91F45BDE-2667-4E8E-AE19-EF216BC17BCC}" destId="{524611BB-EAEB-47DD-B975-FC6EB4EC0D7E}" srcOrd="4" destOrd="0" parTransId="{8ADD2C81-363A-4599-B70B-7A565F5390B0}" sibTransId="{76E6DC17-44DD-439D-9B6D-502F0EE4FB7C}"/>
    <dgm:cxn modelId="{6CF1418B-A72E-4AB4-97AE-0CB1A705940D}" type="presParOf" srcId="{5EF5FBB3-1200-4701-85A5-1036E291A2D2}" destId="{EE5D9414-F2F4-4A04-8043-21FA02C1786E}" srcOrd="0" destOrd="0" presId="urn:microsoft.com/office/officeart/2018/2/layout/IconVerticalSolidList"/>
    <dgm:cxn modelId="{031968B1-3CBF-40F9-82B8-E8D15B9759C6}" type="presParOf" srcId="{EE5D9414-F2F4-4A04-8043-21FA02C1786E}" destId="{8C2B65F7-68D9-4282-8A09-57503DEEBF85}" srcOrd="0" destOrd="0" presId="urn:microsoft.com/office/officeart/2018/2/layout/IconVerticalSolidList"/>
    <dgm:cxn modelId="{056BB775-E687-4970-95D2-2FF1D7E99F1F}" type="presParOf" srcId="{EE5D9414-F2F4-4A04-8043-21FA02C1786E}" destId="{558C0240-17E3-402D-8CC2-D6CA329279CD}" srcOrd="1" destOrd="0" presId="urn:microsoft.com/office/officeart/2018/2/layout/IconVerticalSolidList"/>
    <dgm:cxn modelId="{7BCDDDD4-C9CD-44D2-B7BA-E70DCB903605}" type="presParOf" srcId="{EE5D9414-F2F4-4A04-8043-21FA02C1786E}" destId="{CDF40ADC-6951-4891-A900-A5CE29902F65}" srcOrd="2" destOrd="0" presId="urn:microsoft.com/office/officeart/2018/2/layout/IconVerticalSolidList"/>
    <dgm:cxn modelId="{E1DBB8DB-1552-4674-9C0E-ECFEBBCF372D}" type="presParOf" srcId="{EE5D9414-F2F4-4A04-8043-21FA02C1786E}" destId="{CB09A407-6362-4081-B21D-579B0289A412}" srcOrd="3" destOrd="0" presId="urn:microsoft.com/office/officeart/2018/2/layout/IconVerticalSolidList"/>
    <dgm:cxn modelId="{7F61DD72-11EF-4C1E-9148-88F59832394F}" type="presParOf" srcId="{5EF5FBB3-1200-4701-85A5-1036E291A2D2}" destId="{B6DAFF81-5B4A-4FB9-AD39-87094B91BD51}" srcOrd="1" destOrd="0" presId="urn:microsoft.com/office/officeart/2018/2/layout/IconVerticalSolidList"/>
    <dgm:cxn modelId="{BCD7E3C0-B9D3-430C-821A-D9E41C72694B}" type="presParOf" srcId="{5EF5FBB3-1200-4701-85A5-1036E291A2D2}" destId="{8011B5E8-29BF-4245-9AF0-5F19E9A56B47}" srcOrd="2" destOrd="0" presId="urn:microsoft.com/office/officeart/2018/2/layout/IconVerticalSolidList"/>
    <dgm:cxn modelId="{3EA85386-760C-43EA-8D19-FD47EDC5C241}" type="presParOf" srcId="{8011B5E8-29BF-4245-9AF0-5F19E9A56B47}" destId="{48C41883-7E1F-4C0F-B312-B422E061D6A8}" srcOrd="0" destOrd="0" presId="urn:microsoft.com/office/officeart/2018/2/layout/IconVerticalSolidList"/>
    <dgm:cxn modelId="{0487A97B-BB53-4759-83DB-3E5192ACD0AF}" type="presParOf" srcId="{8011B5E8-29BF-4245-9AF0-5F19E9A56B47}" destId="{E0164FBC-46FD-4740-8B16-165412C563E0}" srcOrd="1" destOrd="0" presId="urn:microsoft.com/office/officeart/2018/2/layout/IconVerticalSolidList"/>
    <dgm:cxn modelId="{DE4D65A3-C8CC-4CB9-9906-8A69BD38D313}" type="presParOf" srcId="{8011B5E8-29BF-4245-9AF0-5F19E9A56B47}" destId="{03C017D0-F000-4004-826A-92D58EA04845}" srcOrd="2" destOrd="0" presId="urn:microsoft.com/office/officeart/2018/2/layout/IconVerticalSolidList"/>
    <dgm:cxn modelId="{F0F1A269-66C6-40AA-A2E1-C7E1DDD0FC32}" type="presParOf" srcId="{8011B5E8-29BF-4245-9AF0-5F19E9A56B47}" destId="{04B51959-EE70-4B24-91AD-1157E1BD1CB5}" srcOrd="3" destOrd="0" presId="urn:microsoft.com/office/officeart/2018/2/layout/IconVerticalSolidList"/>
    <dgm:cxn modelId="{D586DB73-EA05-40CB-8084-51AF59C8D185}" type="presParOf" srcId="{5EF5FBB3-1200-4701-85A5-1036E291A2D2}" destId="{1A745A4B-744A-49CD-B040-BEDB2423249E}" srcOrd="3" destOrd="0" presId="urn:microsoft.com/office/officeart/2018/2/layout/IconVerticalSolidList"/>
    <dgm:cxn modelId="{92DCDF64-E036-4A00-B118-E64B80C15629}" type="presParOf" srcId="{5EF5FBB3-1200-4701-85A5-1036E291A2D2}" destId="{015A9C0F-43F8-4A32-8D4B-C93BB77076D6}" srcOrd="4" destOrd="0" presId="urn:microsoft.com/office/officeart/2018/2/layout/IconVerticalSolidList"/>
    <dgm:cxn modelId="{BA9F3BD1-B317-4CA5-8F77-2DECB159D4FB}" type="presParOf" srcId="{015A9C0F-43F8-4A32-8D4B-C93BB77076D6}" destId="{362E7664-33FB-4BD1-8940-BFD80446B8A0}" srcOrd="0" destOrd="0" presId="urn:microsoft.com/office/officeart/2018/2/layout/IconVerticalSolidList"/>
    <dgm:cxn modelId="{882A8D03-0731-405C-8C08-3180A38CBB55}" type="presParOf" srcId="{015A9C0F-43F8-4A32-8D4B-C93BB77076D6}" destId="{1C9D08C3-EDCD-4928-A637-1DF3EEA571B7}" srcOrd="1" destOrd="0" presId="urn:microsoft.com/office/officeart/2018/2/layout/IconVerticalSolidList"/>
    <dgm:cxn modelId="{BE546C90-49B7-46CA-9AF9-33E74924AFB8}" type="presParOf" srcId="{015A9C0F-43F8-4A32-8D4B-C93BB77076D6}" destId="{C7BAE926-8124-43F8-82B5-064CFF4A5D04}" srcOrd="2" destOrd="0" presId="urn:microsoft.com/office/officeart/2018/2/layout/IconVerticalSolidList"/>
    <dgm:cxn modelId="{FC352947-2F68-4D06-87AB-2145A99C0CE6}" type="presParOf" srcId="{015A9C0F-43F8-4A32-8D4B-C93BB77076D6}" destId="{E2CCAF67-19A4-4C58-97FB-58C17EFF64FA}" srcOrd="3" destOrd="0" presId="urn:microsoft.com/office/officeart/2018/2/layout/IconVerticalSolidList"/>
    <dgm:cxn modelId="{03E7C172-A612-4568-9D8B-878A91A1E15F}" type="presParOf" srcId="{5EF5FBB3-1200-4701-85A5-1036E291A2D2}" destId="{1F29D2E3-5927-491E-A17C-E635E057D6CE}" srcOrd="5" destOrd="0" presId="urn:microsoft.com/office/officeart/2018/2/layout/IconVerticalSolidList"/>
    <dgm:cxn modelId="{7278E81A-2B3F-441E-8181-128ED7EED22C}" type="presParOf" srcId="{5EF5FBB3-1200-4701-85A5-1036E291A2D2}" destId="{F4AEDF61-12AB-466D-9925-7D75AF94C9F4}" srcOrd="6" destOrd="0" presId="urn:microsoft.com/office/officeart/2018/2/layout/IconVerticalSolidList"/>
    <dgm:cxn modelId="{B1B26C4D-E501-4A38-8123-A64822190F44}" type="presParOf" srcId="{F4AEDF61-12AB-466D-9925-7D75AF94C9F4}" destId="{A9B39876-677C-4097-A021-56B22C86F3C3}" srcOrd="0" destOrd="0" presId="urn:microsoft.com/office/officeart/2018/2/layout/IconVerticalSolidList"/>
    <dgm:cxn modelId="{E39EAB58-F8DB-4B42-9759-6946AC5EEB5F}" type="presParOf" srcId="{F4AEDF61-12AB-466D-9925-7D75AF94C9F4}" destId="{77119AD6-0427-4D8B-9240-9AE639B8ACD3}" srcOrd="1" destOrd="0" presId="urn:microsoft.com/office/officeart/2018/2/layout/IconVerticalSolidList"/>
    <dgm:cxn modelId="{614DE97F-C36B-4F48-9227-6A5C0C7B2C3F}" type="presParOf" srcId="{F4AEDF61-12AB-466D-9925-7D75AF94C9F4}" destId="{4035E4E9-CEA4-4A3C-8604-C57714E44714}" srcOrd="2" destOrd="0" presId="urn:microsoft.com/office/officeart/2018/2/layout/IconVerticalSolidList"/>
    <dgm:cxn modelId="{B3DDB4A9-53B8-4BC5-A470-D446189CCCC6}" type="presParOf" srcId="{F4AEDF61-12AB-466D-9925-7D75AF94C9F4}" destId="{E510CF4B-4422-471F-869E-9459E4A67662}" srcOrd="3" destOrd="0" presId="urn:microsoft.com/office/officeart/2018/2/layout/IconVerticalSolidList"/>
    <dgm:cxn modelId="{BA4D1996-0121-4FF1-975C-9FA7B6BCA8EB}" type="presParOf" srcId="{5EF5FBB3-1200-4701-85A5-1036E291A2D2}" destId="{2571FEAA-8BEA-45D6-91ED-9C19A24874B2}" srcOrd="7" destOrd="0" presId="urn:microsoft.com/office/officeart/2018/2/layout/IconVerticalSolidList"/>
    <dgm:cxn modelId="{575471E8-23C4-42AD-A5E8-A473A9AE7FE2}" type="presParOf" srcId="{5EF5FBB3-1200-4701-85A5-1036E291A2D2}" destId="{15C5C8B0-F365-4441-BDED-ACB4746E3FAA}" srcOrd="8" destOrd="0" presId="urn:microsoft.com/office/officeart/2018/2/layout/IconVerticalSolidList"/>
    <dgm:cxn modelId="{C7BE56E9-402F-486C-A5FB-B55277FED75A}" type="presParOf" srcId="{15C5C8B0-F365-4441-BDED-ACB4746E3FAA}" destId="{67A6EE58-69BF-4137-B367-EE521DBEA506}" srcOrd="0" destOrd="0" presId="urn:microsoft.com/office/officeart/2018/2/layout/IconVerticalSolidList"/>
    <dgm:cxn modelId="{5C3E940D-48E1-4DC9-B3CE-FF49EB9AB1CC}" type="presParOf" srcId="{15C5C8B0-F365-4441-BDED-ACB4746E3FAA}" destId="{147ED351-1A56-4B0B-8585-96AB5DB3FEDF}" srcOrd="1" destOrd="0" presId="urn:microsoft.com/office/officeart/2018/2/layout/IconVerticalSolidList"/>
    <dgm:cxn modelId="{D877AE82-59A8-459B-94D0-7E08762807B8}" type="presParOf" srcId="{15C5C8B0-F365-4441-BDED-ACB4746E3FAA}" destId="{5B1883FE-6382-42DE-9A29-46ED6FAF8912}" srcOrd="2" destOrd="0" presId="urn:microsoft.com/office/officeart/2018/2/layout/IconVerticalSolidList"/>
    <dgm:cxn modelId="{965E8250-DA91-4FB5-981B-AE1D4CB2A365}" type="presParOf" srcId="{15C5C8B0-F365-4441-BDED-ACB4746E3FAA}" destId="{A9A87413-ED28-4B6C-9E1A-0EE54EE648D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046009-C949-40B0-81CB-B46A6D417EB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894BC9F-D9B3-49FD-98AB-0CA0C4BEF9BC}">
      <dgm:prSet custT="1"/>
      <dgm:spPr/>
      <dgm:t>
        <a:bodyPr/>
        <a:lstStyle/>
        <a:p>
          <a:pPr algn="just">
            <a:defRPr cap="all"/>
          </a:pPr>
          <a:r>
            <a:rPr lang="pt-BR" sz="1800" b="1" dirty="0"/>
            <a:t>Conforme aumenta a taxa de desconto do fluxo de caixa (juro de mercado), diminui o Valor Presente Líquido </a:t>
          </a:r>
          <a:endParaRPr lang="en-US" sz="1800" b="1" dirty="0"/>
        </a:p>
      </dgm:t>
    </dgm:pt>
    <dgm:pt modelId="{14B3A92B-D54E-4C46-85EF-FA289DBBCDD6}" type="parTrans" cxnId="{EE7BDBF9-0936-4437-BDE4-A1ACCCBD5550}">
      <dgm:prSet/>
      <dgm:spPr/>
      <dgm:t>
        <a:bodyPr/>
        <a:lstStyle/>
        <a:p>
          <a:endParaRPr lang="en-US"/>
        </a:p>
      </dgm:t>
    </dgm:pt>
    <dgm:pt modelId="{2A8DA389-DA6C-4F4A-86A6-D639E81BF66A}" type="sibTrans" cxnId="{EE7BDBF9-0936-4437-BDE4-A1ACCCBD5550}">
      <dgm:prSet/>
      <dgm:spPr/>
      <dgm:t>
        <a:bodyPr/>
        <a:lstStyle/>
        <a:p>
          <a:endParaRPr lang="en-US"/>
        </a:p>
      </dgm:t>
    </dgm:pt>
    <dgm:pt modelId="{F111957F-45B1-4725-8760-FF28E7D77847}">
      <dgm:prSet custT="1"/>
      <dgm:spPr/>
      <dgm:t>
        <a:bodyPr/>
        <a:lstStyle/>
        <a:p>
          <a:pPr>
            <a:defRPr cap="all"/>
          </a:pPr>
          <a:r>
            <a:rPr lang="pt-BR" sz="2400" b="1" dirty="0"/>
            <a:t>Quando a taxa atinge ao em 2% ao mês, o VLP fica negativo.</a:t>
          </a:r>
          <a:endParaRPr lang="en-US" sz="2400" b="1" dirty="0"/>
        </a:p>
      </dgm:t>
    </dgm:pt>
    <dgm:pt modelId="{3C2FBCD6-01E8-415A-AF44-6D63C563FA6A}" type="parTrans" cxnId="{080A3D66-B8CB-404B-B720-ADB0384C6C00}">
      <dgm:prSet/>
      <dgm:spPr/>
      <dgm:t>
        <a:bodyPr/>
        <a:lstStyle/>
        <a:p>
          <a:endParaRPr lang="en-US"/>
        </a:p>
      </dgm:t>
    </dgm:pt>
    <dgm:pt modelId="{665678AC-5921-4486-955A-5FE553C82F38}" type="sibTrans" cxnId="{080A3D66-B8CB-404B-B720-ADB0384C6C00}">
      <dgm:prSet/>
      <dgm:spPr/>
      <dgm:t>
        <a:bodyPr/>
        <a:lstStyle/>
        <a:p>
          <a:endParaRPr lang="en-US"/>
        </a:p>
      </dgm:t>
    </dgm:pt>
    <dgm:pt modelId="{F632DADD-D895-48C1-87D5-D2FDF78EE667}">
      <dgm:prSet custT="1"/>
      <dgm:spPr/>
      <dgm:t>
        <a:bodyPr/>
        <a:lstStyle/>
        <a:p>
          <a:pPr>
            <a:defRPr cap="all"/>
          </a:pPr>
          <a:r>
            <a:rPr lang="pt-BR" sz="2400" b="1" dirty="0"/>
            <a:t>Com esses dados, podemos traçar uma tendência do VPL:</a:t>
          </a:r>
          <a:endParaRPr lang="en-US" sz="2400" b="1" dirty="0"/>
        </a:p>
      </dgm:t>
    </dgm:pt>
    <dgm:pt modelId="{3BC1693C-038D-4F2D-B3AA-BE764F991B93}" type="parTrans" cxnId="{24D955BE-7DED-4C65-A143-E2C2B635B11D}">
      <dgm:prSet/>
      <dgm:spPr/>
      <dgm:t>
        <a:bodyPr/>
        <a:lstStyle/>
        <a:p>
          <a:endParaRPr lang="en-US"/>
        </a:p>
      </dgm:t>
    </dgm:pt>
    <dgm:pt modelId="{FDE421CE-4357-4DC8-97E3-B41D6303D907}" type="sibTrans" cxnId="{24D955BE-7DED-4C65-A143-E2C2B635B11D}">
      <dgm:prSet/>
      <dgm:spPr/>
      <dgm:t>
        <a:bodyPr/>
        <a:lstStyle/>
        <a:p>
          <a:endParaRPr lang="en-US"/>
        </a:p>
      </dgm:t>
    </dgm:pt>
    <dgm:pt modelId="{0FC02733-789B-4512-B8F1-AE04F0FDFC09}" type="pres">
      <dgm:prSet presAssocID="{17046009-C949-40B0-81CB-B46A6D417EB7}" presName="root" presStyleCnt="0">
        <dgm:presLayoutVars>
          <dgm:dir/>
          <dgm:resizeHandles val="exact"/>
        </dgm:presLayoutVars>
      </dgm:prSet>
      <dgm:spPr/>
    </dgm:pt>
    <dgm:pt modelId="{AC151DF4-6F83-48C5-822A-FFEE68573008}" type="pres">
      <dgm:prSet presAssocID="{C894BC9F-D9B3-49FD-98AB-0CA0C4BEF9BC}" presName="compNode" presStyleCnt="0"/>
      <dgm:spPr/>
    </dgm:pt>
    <dgm:pt modelId="{4225FC27-3D66-4C12-8D45-64D69B552B2D}" type="pres">
      <dgm:prSet presAssocID="{C894BC9F-D9B3-49FD-98AB-0CA0C4BEF9BC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2E2F7F2-9D73-4B51-8566-3437941C05F0}" type="pres">
      <dgm:prSet presAssocID="{C894BC9F-D9B3-49FD-98AB-0CA0C4BEF9B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B02A5BF3-DF39-44A3-963B-DDA6EE559C5E}" type="pres">
      <dgm:prSet presAssocID="{C894BC9F-D9B3-49FD-98AB-0CA0C4BEF9BC}" presName="spaceRect" presStyleCnt="0"/>
      <dgm:spPr/>
    </dgm:pt>
    <dgm:pt modelId="{5060D8FC-9729-435D-89EE-41094D3CD2FE}" type="pres">
      <dgm:prSet presAssocID="{C894BC9F-D9B3-49FD-98AB-0CA0C4BEF9BC}" presName="textRect" presStyleLbl="revTx" presStyleIdx="0" presStyleCnt="3" custScaleX="116051">
        <dgm:presLayoutVars>
          <dgm:chMax val="1"/>
          <dgm:chPref val="1"/>
        </dgm:presLayoutVars>
      </dgm:prSet>
      <dgm:spPr/>
    </dgm:pt>
    <dgm:pt modelId="{07BB770C-6393-47DA-8A1D-F89AECF2F3AD}" type="pres">
      <dgm:prSet presAssocID="{2A8DA389-DA6C-4F4A-86A6-D639E81BF66A}" presName="sibTrans" presStyleCnt="0"/>
      <dgm:spPr/>
    </dgm:pt>
    <dgm:pt modelId="{6C35FCB0-706E-4136-94EC-366274F3E33A}" type="pres">
      <dgm:prSet presAssocID="{F111957F-45B1-4725-8760-FF28E7D77847}" presName="compNode" presStyleCnt="0"/>
      <dgm:spPr/>
    </dgm:pt>
    <dgm:pt modelId="{3BF648A7-D23E-4352-9FAB-870BC563E9A3}" type="pres">
      <dgm:prSet presAssocID="{F111957F-45B1-4725-8760-FF28E7D77847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6651B74-475C-4C9A-AA51-9F2BF02AF419}" type="pres">
      <dgm:prSet presAssocID="{F111957F-45B1-4725-8760-FF28E7D7784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4534C73C-4F1E-4943-B27F-C1CF203F915A}" type="pres">
      <dgm:prSet presAssocID="{F111957F-45B1-4725-8760-FF28E7D77847}" presName="spaceRect" presStyleCnt="0"/>
      <dgm:spPr/>
    </dgm:pt>
    <dgm:pt modelId="{F451E599-CE6D-4B70-848C-77686F5A6EEB}" type="pres">
      <dgm:prSet presAssocID="{F111957F-45B1-4725-8760-FF28E7D77847}" presName="textRect" presStyleLbl="revTx" presStyleIdx="1" presStyleCnt="3">
        <dgm:presLayoutVars>
          <dgm:chMax val="1"/>
          <dgm:chPref val="1"/>
        </dgm:presLayoutVars>
      </dgm:prSet>
      <dgm:spPr/>
    </dgm:pt>
    <dgm:pt modelId="{D5C4652C-F493-4FCF-9E61-BA4F1C511CAF}" type="pres">
      <dgm:prSet presAssocID="{665678AC-5921-4486-955A-5FE553C82F38}" presName="sibTrans" presStyleCnt="0"/>
      <dgm:spPr/>
    </dgm:pt>
    <dgm:pt modelId="{9CD96BFC-1266-42E4-82D0-EDA5C1C6DD77}" type="pres">
      <dgm:prSet presAssocID="{F632DADD-D895-48C1-87D5-D2FDF78EE667}" presName="compNode" presStyleCnt="0"/>
      <dgm:spPr/>
    </dgm:pt>
    <dgm:pt modelId="{99C66D1F-0DDC-4608-9B2D-0D86904727C1}" type="pres">
      <dgm:prSet presAssocID="{F632DADD-D895-48C1-87D5-D2FDF78EE667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5ED03C1-8605-489F-A991-884C11DDC756}" type="pres">
      <dgm:prSet presAssocID="{F632DADD-D895-48C1-87D5-D2FDF78EE66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3F26DED8-D30F-4505-AB31-F0DB3A6DD273}" type="pres">
      <dgm:prSet presAssocID="{F632DADD-D895-48C1-87D5-D2FDF78EE667}" presName="spaceRect" presStyleCnt="0"/>
      <dgm:spPr/>
    </dgm:pt>
    <dgm:pt modelId="{DACB82FB-EFEB-466C-BB76-7FB547A352E6}" type="pres">
      <dgm:prSet presAssocID="{F632DADD-D895-48C1-87D5-D2FDF78EE66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A640F39-C55A-4EE7-99FF-6BD3446A13B7}" type="presOf" srcId="{C894BC9F-D9B3-49FD-98AB-0CA0C4BEF9BC}" destId="{5060D8FC-9729-435D-89EE-41094D3CD2FE}" srcOrd="0" destOrd="0" presId="urn:microsoft.com/office/officeart/2018/5/layout/IconLeafLabelList"/>
    <dgm:cxn modelId="{FCE1BF44-A31B-40E2-BB51-0EBE59DC1DD6}" type="presOf" srcId="{F111957F-45B1-4725-8760-FF28E7D77847}" destId="{F451E599-CE6D-4B70-848C-77686F5A6EEB}" srcOrd="0" destOrd="0" presId="urn:microsoft.com/office/officeart/2018/5/layout/IconLeafLabelList"/>
    <dgm:cxn modelId="{080A3D66-B8CB-404B-B720-ADB0384C6C00}" srcId="{17046009-C949-40B0-81CB-B46A6D417EB7}" destId="{F111957F-45B1-4725-8760-FF28E7D77847}" srcOrd="1" destOrd="0" parTransId="{3C2FBCD6-01E8-415A-AF44-6D63C563FA6A}" sibTransId="{665678AC-5921-4486-955A-5FE553C82F38}"/>
    <dgm:cxn modelId="{6433EA58-2954-47D7-8C78-60964B30F2DD}" type="presOf" srcId="{F632DADD-D895-48C1-87D5-D2FDF78EE667}" destId="{DACB82FB-EFEB-466C-BB76-7FB547A352E6}" srcOrd="0" destOrd="0" presId="urn:microsoft.com/office/officeart/2018/5/layout/IconLeafLabelList"/>
    <dgm:cxn modelId="{4383B89B-7A95-4D0A-A728-3FD7632099D7}" type="presOf" srcId="{17046009-C949-40B0-81CB-B46A6D417EB7}" destId="{0FC02733-789B-4512-B8F1-AE04F0FDFC09}" srcOrd="0" destOrd="0" presId="urn:microsoft.com/office/officeart/2018/5/layout/IconLeafLabelList"/>
    <dgm:cxn modelId="{24D955BE-7DED-4C65-A143-E2C2B635B11D}" srcId="{17046009-C949-40B0-81CB-B46A6D417EB7}" destId="{F632DADD-D895-48C1-87D5-D2FDF78EE667}" srcOrd="2" destOrd="0" parTransId="{3BC1693C-038D-4F2D-B3AA-BE764F991B93}" sibTransId="{FDE421CE-4357-4DC8-97E3-B41D6303D907}"/>
    <dgm:cxn modelId="{EE7BDBF9-0936-4437-BDE4-A1ACCCBD5550}" srcId="{17046009-C949-40B0-81CB-B46A6D417EB7}" destId="{C894BC9F-D9B3-49FD-98AB-0CA0C4BEF9BC}" srcOrd="0" destOrd="0" parTransId="{14B3A92B-D54E-4C46-85EF-FA289DBBCDD6}" sibTransId="{2A8DA389-DA6C-4F4A-86A6-D639E81BF66A}"/>
    <dgm:cxn modelId="{5CC4E3F6-B0F7-4F98-AD02-23DB895941CA}" type="presParOf" srcId="{0FC02733-789B-4512-B8F1-AE04F0FDFC09}" destId="{AC151DF4-6F83-48C5-822A-FFEE68573008}" srcOrd="0" destOrd="0" presId="urn:microsoft.com/office/officeart/2018/5/layout/IconLeafLabelList"/>
    <dgm:cxn modelId="{42281E69-6FF8-455A-BEA9-46EA641F3818}" type="presParOf" srcId="{AC151DF4-6F83-48C5-822A-FFEE68573008}" destId="{4225FC27-3D66-4C12-8D45-64D69B552B2D}" srcOrd="0" destOrd="0" presId="urn:microsoft.com/office/officeart/2018/5/layout/IconLeafLabelList"/>
    <dgm:cxn modelId="{B64DDEC3-3C45-4CEE-8D7B-46D34B148E8D}" type="presParOf" srcId="{AC151DF4-6F83-48C5-822A-FFEE68573008}" destId="{42E2F7F2-9D73-4B51-8566-3437941C05F0}" srcOrd="1" destOrd="0" presId="urn:microsoft.com/office/officeart/2018/5/layout/IconLeafLabelList"/>
    <dgm:cxn modelId="{4D4FCB4C-EED1-4747-B625-A53E07F57822}" type="presParOf" srcId="{AC151DF4-6F83-48C5-822A-FFEE68573008}" destId="{B02A5BF3-DF39-44A3-963B-DDA6EE559C5E}" srcOrd="2" destOrd="0" presId="urn:microsoft.com/office/officeart/2018/5/layout/IconLeafLabelList"/>
    <dgm:cxn modelId="{92754C69-4AC5-4DAE-AC36-E901E0470B7C}" type="presParOf" srcId="{AC151DF4-6F83-48C5-822A-FFEE68573008}" destId="{5060D8FC-9729-435D-89EE-41094D3CD2FE}" srcOrd="3" destOrd="0" presId="urn:microsoft.com/office/officeart/2018/5/layout/IconLeafLabelList"/>
    <dgm:cxn modelId="{C96E6CBB-DB6C-4F8B-B655-A9828EA79BE6}" type="presParOf" srcId="{0FC02733-789B-4512-B8F1-AE04F0FDFC09}" destId="{07BB770C-6393-47DA-8A1D-F89AECF2F3AD}" srcOrd="1" destOrd="0" presId="urn:microsoft.com/office/officeart/2018/5/layout/IconLeafLabelList"/>
    <dgm:cxn modelId="{2E59EB6D-0402-4219-8820-6500EE62D7A1}" type="presParOf" srcId="{0FC02733-789B-4512-B8F1-AE04F0FDFC09}" destId="{6C35FCB0-706E-4136-94EC-366274F3E33A}" srcOrd="2" destOrd="0" presId="urn:microsoft.com/office/officeart/2018/5/layout/IconLeafLabelList"/>
    <dgm:cxn modelId="{9683A508-6E79-465A-BDDD-9E3F2AE5FBF6}" type="presParOf" srcId="{6C35FCB0-706E-4136-94EC-366274F3E33A}" destId="{3BF648A7-D23E-4352-9FAB-870BC563E9A3}" srcOrd="0" destOrd="0" presId="urn:microsoft.com/office/officeart/2018/5/layout/IconLeafLabelList"/>
    <dgm:cxn modelId="{2F4C7E05-0C6E-4A66-8E96-086E772AE686}" type="presParOf" srcId="{6C35FCB0-706E-4136-94EC-366274F3E33A}" destId="{06651B74-475C-4C9A-AA51-9F2BF02AF419}" srcOrd="1" destOrd="0" presId="urn:microsoft.com/office/officeart/2018/5/layout/IconLeafLabelList"/>
    <dgm:cxn modelId="{7CEF28C7-6A25-4886-B7F7-8945FA6F4C60}" type="presParOf" srcId="{6C35FCB0-706E-4136-94EC-366274F3E33A}" destId="{4534C73C-4F1E-4943-B27F-C1CF203F915A}" srcOrd="2" destOrd="0" presId="urn:microsoft.com/office/officeart/2018/5/layout/IconLeafLabelList"/>
    <dgm:cxn modelId="{A8DE629F-E947-458B-AFFD-B332D5FFDCF7}" type="presParOf" srcId="{6C35FCB0-706E-4136-94EC-366274F3E33A}" destId="{F451E599-CE6D-4B70-848C-77686F5A6EEB}" srcOrd="3" destOrd="0" presId="urn:microsoft.com/office/officeart/2018/5/layout/IconLeafLabelList"/>
    <dgm:cxn modelId="{7BF83B89-E3A5-4599-A7FA-484A5B471BE1}" type="presParOf" srcId="{0FC02733-789B-4512-B8F1-AE04F0FDFC09}" destId="{D5C4652C-F493-4FCF-9E61-BA4F1C511CAF}" srcOrd="3" destOrd="0" presId="urn:microsoft.com/office/officeart/2018/5/layout/IconLeafLabelList"/>
    <dgm:cxn modelId="{B2FDC668-D16D-4330-8B0C-E4376C7A28D0}" type="presParOf" srcId="{0FC02733-789B-4512-B8F1-AE04F0FDFC09}" destId="{9CD96BFC-1266-42E4-82D0-EDA5C1C6DD77}" srcOrd="4" destOrd="0" presId="urn:microsoft.com/office/officeart/2018/5/layout/IconLeafLabelList"/>
    <dgm:cxn modelId="{00778BD8-EC93-452F-852E-1A12EE2BC959}" type="presParOf" srcId="{9CD96BFC-1266-42E4-82D0-EDA5C1C6DD77}" destId="{99C66D1F-0DDC-4608-9B2D-0D86904727C1}" srcOrd="0" destOrd="0" presId="urn:microsoft.com/office/officeart/2018/5/layout/IconLeafLabelList"/>
    <dgm:cxn modelId="{C3D0BAED-A3FC-44E3-8FDC-8D916DCC2DF7}" type="presParOf" srcId="{9CD96BFC-1266-42E4-82D0-EDA5C1C6DD77}" destId="{15ED03C1-8605-489F-A991-884C11DDC756}" srcOrd="1" destOrd="0" presId="urn:microsoft.com/office/officeart/2018/5/layout/IconLeafLabelList"/>
    <dgm:cxn modelId="{CF9FC559-BF59-4591-9093-2E112500E89B}" type="presParOf" srcId="{9CD96BFC-1266-42E4-82D0-EDA5C1C6DD77}" destId="{3F26DED8-D30F-4505-AB31-F0DB3A6DD273}" srcOrd="2" destOrd="0" presId="urn:microsoft.com/office/officeart/2018/5/layout/IconLeafLabelList"/>
    <dgm:cxn modelId="{5DB7CE91-3277-4003-9707-048D42DC5DF1}" type="presParOf" srcId="{9CD96BFC-1266-42E4-82D0-EDA5C1C6DD77}" destId="{DACB82FB-EFEB-466C-BB76-7FB547A352E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2B65F7-68D9-4282-8A09-57503DEEBF85}">
      <dsp:nvSpPr>
        <dsp:cNvPr id="0" name=""/>
        <dsp:cNvSpPr/>
      </dsp:nvSpPr>
      <dsp:spPr>
        <a:xfrm>
          <a:off x="0" y="3860"/>
          <a:ext cx="4947047" cy="8223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8C0240-17E3-402D-8CC2-D6CA329279CD}">
      <dsp:nvSpPr>
        <dsp:cNvPr id="0" name=""/>
        <dsp:cNvSpPr/>
      </dsp:nvSpPr>
      <dsp:spPr>
        <a:xfrm>
          <a:off x="248764" y="188892"/>
          <a:ext cx="452298" cy="4522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09A407-6362-4081-B21D-579B0289A412}">
      <dsp:nvSpPr>
        <dsp:cNvPr id="0" name=""/>
        <dsp:cNvSpPr/>
      </dsp:nvSpPr>
      <dsp:spPr>
        <a:xfrm>
          <a:off x="949827" y="3860"/>
          <a:ext cx="3997219" cy="822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33" tIns="87033" rIns="87033" bIns="8703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Introduzir uma visão quantitativa para a rentabilização do investimento em tecnologia. </a:t>
          </a:r>
          <a:endParaRPr lang="en-US" sz="1700" kern="1200" dirty="0"/>
        </a:p>
      </dsp:txBody>
      <dsp:txXfrm>
        <a:off x="949827" y="3860"/>
        <a:ext cx="3997219" cy="822361"/>
      </dsp:txXfrm>
    </dsp:sp>
    <dsp:sp modelId="{48C41883-7E1F-4C0F-B312-B422E061D6A8}">
      <dsp:nvSpPr>
        <dsp:cNvPr id="0" name=""/>
        <dsp:cNvSpPr/>
      </dsp:nvSpPr>
      <dsp:spPr>
        <a:xfrm>
          <a:off x="0" y="1031812"/>
          <a:ext cx="4947047" cy="8223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164FBC-46FD-4740-8B16-165412C563E0}">
      <dsp:nvSpPr>
        <dsp:cNvPr id="0" name=""/>
        <dsp:cNvSpPr/>
      </dsp:nvSpPr>
      <dsp:spPr>
        <a:xfrm>
          <a:off x="248764" y="1216843"/>
          <a:ext cx="452298" cy="4522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B51959-EE70-4B24-91AD-1157E1BD1CB5}">
      <dsp:nvSpPr>
        <dsp:cNvPr id="0" name=""/>
        <dsp:cNvSpPr/>
      </dsp:nvSpPr>
      <dsp:spPr>
        <a:xfrm>
          <a:off x="949827" y="1031812"/>
          <a:ext cx="3997219" cy="822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33" tIns="87033" rIns="87033" bIns="8703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Apresentar o conceito e aplicações de Valor Presente.</a:t>
          </a:r>
          <a:endParaRPr lang="en-US" sz="1700" kern="1200" dirty="0"/>
        </a:p>
      </dsp:txBody>
      <dsp:txXfrm>
        <a:off x="949827" y="1031812"/>
        <a:ext cx="3997219" cy="822361"/>
      </dsp:txXfrm>
    </dsp:sp>
    <dsp:sp modelId="{362E7664-33FB-4BD1-8940-BFD80446B8A0}">
      <dsp:nvSpPr>
        <dsp:cNvPr id="0" name=""/>
        <dsp:cNvSpPr/>
      </dsp:nvSpPr>
      <dsp:spPr>
        <a:xfrm>
          <a:off x="0" y="2059763"/>
          <a:ext cx="4947047" cy="8223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9D08C3-EDCD-4928-A637-1DF3EEA571B7}">
      <dsp:nvSpPr>
        <dsp:cNvPr id="0" name=""/>
        <dsp:cNvSpPr/>
      </dsp:nvSpPr>
      <dsp:spPr>
        <a:xfrm>
          <a:off x="248764" y="2244794"/>
          <a:ext cx="452298" cy="4522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CCAF67-19A4-4C58-97FB-58C17EFF64FA}">
      <dsp:nvSpPr>
        <dsp:cNvPr id="0" name=""/>
        <dsp:cNvSpPr/>
      </dsp:nvSpPr>
      <dsp:spPr>
        <a:xfrm>
          <a:off x="949827" y="2059763"/>
          <a:ext cx="3997219" cy="822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33" tIns="87033" rIns="87033" bIns="8703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/>
            <a:t>Introduzir o conceito de Valor Presente Liquido.</a:t>
          </a:r>
          <a:endParaRPr lang="en-US" sz="1700" kern="1200"/>
        </a:p>
      </dsp:txBody>
      <dsp:txXfrm>
        <a:off x="949827" y="2059763"/>
        <a:ext cx="3997219" cy="822361"/>
      </dsp:txXfrm>
    </dsp:sp>
    <dsp:sp modelId="{A9B39876-677C-4097-A021-56B22C86F3C3}">
      <dsp:nvSpPr>
        <dsp:cNvPr id="0" name=""/>
        <dsp:cNvSpPr/>
      </dsp:nvSpPr>
      <dsp:spPr>
        <a:xfrm>
          <a:off x="0" y="3087714"/>
          <a:ext cx="4947047" cy="8223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119AD6-0427-4D8B-9240-9AE639B8ACD3}">
      <dsp:nvSpPr>
        <dsp:cNvPr id="0" name=""/>
        <dsp:cNvSpPr/>
      </dsp:nvSpPr>
      <dsp:spPr>
        <a:xfrm>
          <a:off x="248764" y="3272746"/>
          <a:ext cx="452298" cy="45229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10CF4B-4422-471F-869E-9459E4A67662}">
      <dsp:nvSpPr>
        <dsp:cNvPr id="0" name=""/>
        <dsp:cNvSpPr/>
      </dsp:nvSpPr>
      <dsp:spPr>
        <a:xfrm>
          <a:off x="949827" y="3087714"/>
          <a:ext cx="3997219" cy="822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33" tIns="87033" rIns="87033" bIns="8703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Introduzir conceito e aplicações de Valor Futuro. </a:t>
          </a:r>
          <a:endParaRPr lang="en-US" sz="1700" kern="1200" dirty="0"/>
        </a:p>
      </dsp:txBody>
      <dsp:txXfrm>
        <a:off x="949827" y="3087714"/>
        <a:ext cx="3997219" cy="822361"/>
      </dsp:txXfrm>
    </dsp:sp>
    <dsp:sp modelId="{67A6EE58-69BF-4137-B367-EE521DBEA506}">
      <dsp:nvSpPr>
        <dsp:cNvPr id="0" name=""/>
        <dsp:cNvSpPr/>
      </dsp:nvSpPr>
      <dsp:spPr>
        <a:xfrm>
          <a:off x="0" y="4115666"/>
          <a:ext cx="4947047" cy="8223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7ED351-1A56-4B0B-8585-96AB5DB3FEDF}">
      <dsp:nvSpPr>
        <dsp:cNvPr id="0" name=""/>
        <dsp:cNvSpPr/>
      </dsp:nvSpPr>
      <dsp:spPr>
        <a:xfrm>
          <a:off x="248764" y="4300697"/>
          <a:ext cx="452298" cy="45229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A87413-ED28-4B6C-9E1A-0EE54EE648D6}">
      <dsp:nvSpPr>
        <dsp:cNvPr id="0" name=""/>
        <dsp:cNvSpPr/>
      </dsp:nvSpPr>
      <dsp:spPr>
        <a:xfrm>
          <a:off x="949827" y="4115666"/>
          <a:ext cx="3997219" cy="822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033" tIns="87033" rIns="87033" bIns="8703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Preparar critérios de diferenciação de projetos.</a:t>
          </a:r>
          <a:endParaRPr lang="en-US" sz="1700" kern="1200" dirty="0"/>
        </a:p>
      </dsp:txBody>
      <dsp:txXfrm>
        <a:off x="949827" y="4115666"/>
        <a:ext cx="3997219" cy="8223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25FC27-3D66-4C12-8D45-64D69B552B2D}">
      <dsp:nvSpPr>
        <dsp:cNvPr id="0" name=""/>
        <dsp:cNvSpPr/>
      </dsp:nvSpPr>
      <dsp:spPr>
        <a:xfrm>
          <a:off x="705066" y="564235"/>
          <a:ext cx="1441125" cy="144112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E2F7F2-9D73-4B51-8566-3437941C05F0}">
      <dsp:nvSpPr>
        <dsp:cNvPr id="0" name=""/>
        <dsp:cNvSpPr/>
      </dsp:nvSpPr>
      <dsp:spPr>
        <a:xfrm>
          <a:off x="1012191" y="871360"/>
          <a:ext cx="826875" cy="826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60D8FC-9729-435D-89EE-41094D3CD2FE}">
      <dsp:nvSpPr>
        <dsp:cNvPr id="0" name=""/>
        <dsp:cNvSpPr/>
      </dsp:nvSpPr>
      <dsp:spPr>
        <a:xfrm>
          <a:off x="54776" y="2454235"/>
          <a:ext cx="2741704" cy="1166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ju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800" b="1" kern="1200" dirty="0"/>
            <a:t>Conforme aumenta a taxa de desconto do fluxo de caixa (juro de mercado), diminui o Valor Presente Líquido </a:t>
          </a:r>
          <a:endParaRPr lang="en-US" sz="1800" b="1" kern="1200" dirty="0"/>
        </a:p>
      </dsp:txBody>
      <dsp:txXfrm>
        <a:off x="54776" y="2454235"/>
        <a:ext cx="2741704" cy="1166230"/>
      </dsp:txXfrm>
    </dsp:sp>
    <dsp:sp modelId="{3BF648A7-D23E-4352-9FAB-870BC563E9A3}">
      <dsp:nvSpPr>
        <dsp:cNvPr id="0" name=""/>
        <dsp:cNvSpPr/>
      </dsp:nvSpPr>
      <dsp:spPr>
        <a:xfrm>
          <a:off x="3670606" y="564235"/>
          <a:ext cx="1441125" cy="144112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651B74-475C-4C9A-AA51-9F2BF02AF419}">
      <dsp:nvSpPr>
        <dsp:cNvPr id="0" name=""/>
        <dsp:cNvSpPr/>
      </dsp:nvSpPr>
      <dsp:spPr>
        <a:xfrm>
          <a:off x="3977731" y="871360"/>
          <a:ext cx="826875" cy="826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51E599-CE6D-4B70-848C-77686F5A6EEB}">
      <dsp:nvSpPr>
        <dsp:cNvPr id="0" name=""/>
        <dsp:cNvSpPr/>
      </dsp:nvSpPr>
      <dsp:spPr>
        <a:xfrm>
          <a:off x="3209918" y="2454235"/>
          <a:ext cx="2362500" cy="1166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400" b="1" kern="1200" dirty="0"/>
            <a:t>Quando a taxa atinge ao em 2% ao mês, o VLP fica negativo.</a:t>
          </a:r>
          <a:endParaRPr lang="en-US" sz="2400" b="1" kern="1200" dirty="0"/>
        </a:p>
      </dsp:txBody>
      <dsp:txXfrm>
        <a:off x="3209918" y="2454235"/>
        <a:ext cx="2362500" cy="1166230"/>
      </dsp:txXfrm>
    </dsp:sp>
    <dsp:sp modelId="{99C66D1F-0DDC-4608-9B2D-0D86904727C1}">
      <dsp:nvSpPr>
        <dsp:cNvPr id="0" name=""/>
        <dsp:cNvSpPr/>
      </dsp:nvSpPr>
      <dsp:spPr>
        <a:xfrm>
          <a:off x="6446543" y="564235"/>
          <a:ext cx="1441125" cy="144112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ED03C1-8605-489F-A991-884C11DDC756}">
      <dsp:nvSpPr>
        <dsp:cNvPr id="0" name=""/>
        <dsp:cNvSpPr/>
      </dsp:nvSpPr>
      <dsp:spPr>
        <a:xfrm>
          <a:off x="6753668" y="871360"/>
          <a:ext cx="826875" cy="8268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CB82FB-EFEB-466C-BB76-7FB547A352E6}">
      <dsp:nvSpPr>
        <dsp:cNvPr id="0" name=""/>
        <dsp:cNvSpPr/>
      </dsp:nvSpPr>
      <dsp:spPr>
        <a:xfrm>
          <a:off x="5985856" y="2454235"/>
          <a:ext cx="2362500" cy="1166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400" b="1" kern="1200" dirty="0"/>
            <a:t>Com esses dados, podemos traçar uma tendência do VPL:</a:t>
          </a:r>
          <a:endParaRPr lang="en-US" sz="2400" b="1" kern="1200" dirty="0"/>
        </a:p>
      </dsp:txBody>
      <dsp:txXfrm>
        <a:off x="5985856" y="2454235"/>
        <a:ext cx="2362500" cy="11662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7077473-20A7-46D6-881B-93943665FC9C}" type="datetimeFigureOut">
              <a:rPr lang="pt-BR" smtClean="0"/>
              <a:pPr/>
              <a:t>01/09/2019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076FD-60E6-458F-A1C4-5E6CD275B159}" type="slidenum">
              <a:rPr lang="pt-BR" smtClean="0"/>
              <a:pPr/>
              <a:t>‹nº›</a:t>
            </a:fld>
            <a:endParaRPr lang="pt-BR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06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7473-20A7-46D6-881B-93943665FC9C}" type="datetimeFigureOut">
              <a:rPr lang="pt-BR" smtClean="0"/>
              <a:pPr/>
              <a:t>01/09/2019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076FD-60E6-458F-A1C4-5E6CD275B159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5013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7473-20A7-46D6-881B-93943665FC9C}" type="datetimeFigureOut">
              <a:rPr lang="pt-BR" smtClean="0"/>
              <a:pPr/>
              <a:t>01/09/2019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076FD-60E6-458F-A1C4-5E6CD275B159}" type="slidenum">
              <a:rPr lang="pt-BR" smtClean="0"/>
              <a:pPr/>
              <a:t>‹nº›</a:t>
            </a:fld>
            <a:endParaRPr lang="pt-BR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737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7473-20A7-46D6-881B-93943665FC9C}" type="datetimeFigureOut">
              <a:rPr lang="pt-BR" smtClean="0"/>
              <a:pPr/>
              <a:t>01/09/2019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076FD-60E6-458F-A1C4-5E6CD275B159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0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7473-20A7-46D6-881B-93943665FC9C}" type="datetimeFigureOut">
              <a:rPr lang="pt-BR" smtClean="0"/>
              <a:pPr/>
              <a:t>01/09/2019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076FD-60E6-458F-A1C4-5E6CD275B159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9449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7473-20A7-46D6-881B-93943665FC9C}" type="datetimeFigureOut">
              <a:rPr lang="pt-BR" smtClean="0"/>
              <a:pPr/>
              <a:t>01/09/2019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076FD-60E6-458F-A1C4-5E6CD275B159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2444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7473-20A7-46D6-881B-93943665FC9C}" type="datetimeFigureOut">
              <a:rPr lang="pt-BR" smtClean="0"/>
              <a:pPr/>
              <a:t>01/09/2019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076FD-60E6-458F-A1C4-5E6CD275B159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6947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7473-20A7-46D6-881B-93943665FC9C}" type="datetimeFigureOut">
              <a:rPr lang="pt-BR" smtClean="0"/>
              <a:pPr/>
              <a:t>01/09/2019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076FD-60E6-458F-A1C4-5E6CD275B159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552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7473-20A7-46D6-881B-93943665FC9C}" type="datetimeFigureOut">
              <a:rPr lang="pt-BR" smtClean="0"/>
              <a:pPr/>
              <a:t>01/09/2019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076FD-60E6-458F-A1C4-5E6CD275B159}" type="slidenum">
              <a:rPr lang="pt-BR" smtClean="0"/>
              <a:pPr/>
              <a:t>‹nº›</a:t>
            </a:fld>
            <a:endParaRPr lang="pt-BR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519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7473-20A7-46D6-881B-93943665FC9C}" type="datetimeFigureOut">
              <a:rPr lang="pt-BR" smtClean="0"/>
              <a:pPr/>
              <a:t>01/09/2019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076FD-60E6-458F-A1C4-5E6CD275B159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68731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77473-20A7-46D6-881B-93943665FC9C}" type="datetimeFigureOut">
              <a:rPr lang="pt-BR" smtClean="0"/>
              <a:pPr/>
              <a:t>01/09/2019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076FD-60E6-458F-A1C4-5E6CD275B159}" type="slidenum">
              <a:rPr lang="pt-BR" smtClean="0"/>
              <a:pPr/>
              <a:t>‹nº›</a:t>
            </a:fld>
            <a:endParaRPr lang="pt-BR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821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7077473-20A7-46D6-881B-93943665FC9C}" type="datetimeFigureOut">
              <a:rPr lang="pt-BR" smtClean="0"/>
              <a:pPr/>
              <a:t>01/09/2019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5A076FD-60E6-458F-A1C4-5E6CD275B159}" type="slidenum">
              <a:rPr lang="pt-BR" smtClean="0"/>
              <a:pPr/>
              <a:t>‹nº›</a:t>
            </a:fld>
            <a:endParaRPr lang="pt-BR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111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>
            <a:normAutofit/>
          </a:bodyPr>
          <a:lstStyle/>
          <a:p>
            <a:r>
              <a:rPr lang="pt-BR" sz="3700" dirty="0">
                <a:solidFill>
                  <a:srgbClr val="FFFFFF"/>
                </a:solidFill>
              </a:rPr>
              <a:t>Introdução aos conceitos de  Valor Futuro e valor presente</a:t>
            </a:r>
            <a:br>
              <a:rPr lang="pt-BR" sz="3700" dirty="0">
                <a:solidFill>
                  <a:srgbClr val="FFFFFF"/>
                </a:solidFill>
              </a:rPr>
            </a:br>
            <a:endParaRPr lang="pt-BR" sz="3700" dirty="0">
              <a:solidFill>
                <a:srgbClr val="FFFFFF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Prof. Dr. Demerval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A5A5F43-8D04-4F2F-90EC-9003D3B27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6595" y="640080"/>
            <a:ext cx="3306457" cy="330645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304880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AAC386-A18D-4525-AD1B-4D227ED34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7404" y="643467"/>
            <a:ext cx="2604756" cy="5571066"/>
          </a:xfrm>
        </p:spPr>
        <p:txBody>
          <a:bodyPr>
            <a:normAutofit/>
          </a:bodyPr>
          <a:lstStyle/>
          <a:p>
            <a:r>
              <a:rPr lang="pt-BR"/>
              <a:t>Objetivos: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4C4AD0-FE94-4E84-ACA6-CC5BF1A11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890097" y="2514600"/>
            <a:ext cx="0" cy="1828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DF8C9960-BD14-476F-9431-180C814CD8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3240368"/>
              </p:ext>
            </p:extLst>
          </p:nvPr>
        </p:nvGraphicFramePr>
        <p:xfrm>
          <a:off x="707231" y="933450"/>
          <a:ext cx="4947047" cy="4941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8096" y="836712"/>
            <a:ext cx="7290054" cy="864096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O conceito do Valor 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2060848"/>
            <a:ext cx="7992888" cy="42485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400" dirty="0"/>
              <a:t>O dinheiro varia no tempo e interfere no resultado dos projetos. </a:t>
            </a:r>
          </a:p>
          <a:p>
            <a:pPr marL="0" indent="0">
              <a:buNone/>
            </a:pPr>
            <a:r>
              <a:rPr lang="pt-BR" sz="2400" dirty="0"/>
              <a:t>O fator de valor presente é  calcular um número ou uma sequência de pagamentos para o período atual K/(1 + i)^n  para um único valor.</a:t>
            </a:r>
          </a:p>
          <a:p>
            <a:r>
              <a:rPr lang="pt-BR" sz="2400" dirty="0"/>
              <a:t>Se partimos do Valor Futuro e queremos encontrar o seu valor presente , dividimos o valor por esse fator. </a:t>
            </a:r>
          </a:p>
          <a:p>
            <a:r>
              <a:rPr lang="pt-BR" sz="2400" dirty="0"/>
              <a:t>Como saber o valor presente de R$ 10.000,00 com vencimento para 3 meses, à taxa de </a:t>
            </a:r>
          </a:p>
          <a:p>
            <a:r>
              <a:rPr lang="pt-BR" sz="2400" dirty="0"/>
              <a:t>juros de 2% ao mês?</a:t>
            </a:r>
          </a:p>
          <a:p>
            <a:r>
              <a:rPr lang="pt-BR" sz="2400" b="1" dirty="0">
                <a:solidFill>
                  <a:srgbClr val="FF0000"/>
                </a:solidFill>
              </a:rPr>
              <a:t>VP = 10.000/(1 + 0,02)^³ = 9.423,22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Valor Presente Líquido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67544" y="2286000"/>
            <a:ext cx="8064896" cy="4023360"/>
          </a:xfrm>
        </p:spPr>
        <p:txBody>
          <a:bodyPr/>
          <a:lstStyle/>
          <a:p>
            <a:r>
              <a:rPr lang="pt-BR" dirty="0"/>
              <a:t>  </a:t>
            </a:r>
            <a:r>
              <a:rPr lang="pt-BR" sz="4400" dirty="0"/>
              <a:t>Sequência de prestações iguais.</a:t>
            </a:r>
          </a:p>
          <a:p>
            <a:endParaRPr lang="pt-BR" sz="4400" dirty="0"/>
          </a:p>
          <a:p>
            <a:r>
              <a:rPr lang="pt-BR" sz="4400" dirty="0"/>
              <a:t> Permite fórmulas capazes de corrigir o valor real em função do tempo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8643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pt-BR">
                <a:solidFill>
                  <a:srgbClr val="FFFFFF"/>
                </a:solidFill>
              </a:rPr>
              <a:t>O conceito do Valor Presente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ctr">
            <a:normAutofit/>
          </a:bodyPr>
          <a:lstStyle/>
          <a:p>
            <a:pPr algn="just"/>
            <a:r>
              <a:rPr lang="pt-BR" sz="3200" dirty="0"/>
              <a:t>O fator de valor presente para uma série de prestações iguais e vencidas é: </a:t>
            </a:r>
          </a:p>
          <a:p>
            <a:pPr algn="just"/>
            <a:endParaRPr lang="pt-BR" sz="3200" dirty="0"/>
          </a:p>
          <a:p>
            <a:pPr algn="just">
              <a:buNone/>
            </a:pPr>
            <a:r>
              <a:rPr lang="pt-BR" sz="3200" dirty="0"/>
              <a:t>      </a:t>
            </a:r>
            <a:r>
              <a:rPr lang="pt-BR" sz="3200" b="1" dirty="0"/>
              <a:t>(1 + i/100) ^n – 1</a:t>
            </a:r>
          </a:p>
          <a:p>
            <a:pPr algn="just">
              <a:buNone/>
            </a:pPr>
            <a:r>
              <a:rPr lang="pt-BR" sz="3200" dirty="0"/>
              <a:t>      </a:t>
            </a:r>
            <a:r>
              <a:rPr lang="pt-BR" sz="3200" b="1" dirty="0"/>
              <a:t>_________________</a:t>
            </a:r>
          </a:p>
          <a:p>
            <a:pPr algn="just">
              <a:buNone/>
            </a:pPr>
            <a:r>
              <a:rPr lang="pt-BR" sz="3200" dirty="0"/>
              <a:t>       [</a:t>
            </a:r>
            <a:r>
              <a:rPr lang="pt-BR" sz="3200" b="1" dirty="0"/>
              <a:t>(1+  i/100) ^n] . i/100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pt-BR"/>
              <a:t>O conceito do Valor Presente Liquido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81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749497" y="804333"/>
            <a:ext cx="4693291" cy="5249334"/>
          </a:xfrm>
        </p:spPr>
        <p:txBody>
          <a:bodyPr anchor="ctr">
            <a:normAutofit/>
          </a:bodyPr>
          <a:lstStyle/>
          <a:p>
            <a:pPr algn="just">
              <a:buNone/>
            </a:pPr>
            <a:r>
              <a:rPr lang="pt-BR" sz="2800" dirty="0"/>
              <a:t>Exemplo 1:</a:t>
            </a:r>
          </a:p>
          <a:p>
            <a:pPr algn="just">
              <a:buNone/>
            </a:pPr>
            <a:r>
              <a:rPr lang="pt-BR" sz="2800" dirty="0"/>
              <a:t>  Uma empresa quer antecipar o pagamento das últimas três parcelas de um empréstimo bancário com prestações iguais e consecutivas de R$ 500.000,00. A taxa contratada é de 4% ao mês.</a:t>
            </a:r>
          </a:p>
          <a:p>
            <a:pPr algn="just">
              <a:buNone/>
            </a:pPr>
            <a:r>
              <a:rPr lang="pt-BR" sz="2800" dirty="0"/>
              <a:t>    Qual seria o valor de liquidação dessas prestações atualmente?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pt-BR"/>
              <a:t>O conceito do Valor Presente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81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749497" y="804333"/>
            <a:ext cx="4693291" cy="5249334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pt-BR" dirty="0"/>
              <a:t>VP = 500.000,00 .   [</a:t>
            </a:r>
            <a:r>
              <a:rPr lang="pt-BR" u="sng" dirty="0"/>
              <a:t>(1 + 0,04)^³] - 1</a:t>
            </a:r>
          </a:p>
          <a:p>
            <a:pPr>
              <a:buNone/>
            </a:pPr>
            <a:r>
              <a:rPr lang="pt-BR" dirty="0"/>
              <a:t>                                [(1 + 0,04)^³ ]. 0,04</a:t>
            </a:r>
          </a:p>
          <a:p>
            <a:pPr>
              <a:buNone/>
            </a:pPr>
            <a:endParaRPr lang="pt-BR" dirty="0"/>
          </a:p>
          <a:p>
            <a:r>
              <a:rPr lang="pt-BR" dirty="0"/>
              <a:t>VP = 500.000,00 . </a:t>
            </a:r>
            <a:r>
              <a:rPr lang="pt-BR" u="sng" dirty="0"/>
              <a:t>1,124864 – 1     </a:t>
            </a:r>
          </a:p>
          <a:p>
            <a:pPr>
              <a:buNone/>
            </a:pPr>
            <a:r>
              <a:rPr lang="pt-BR" dirty="0"/>
              <a:t>                               1,124864 . 0,04</a:t>
            </a:r>
          </a:p>
          <a:p>
            <a:pPr>
              <a:buNone/>
            </a:pPr>
            <a:endParaRPr lang="pt-BR" dirty="0"/>
          </a:p>
          <a:p>
            <a:r>
              <a:rPr lang="pt-BR" dirty="0"/>
              <a:t>VP = 500.000,00 . </a:t>
            </a:r>
            <a:r>
              <a:rPr lang="pt-BR" u="sng" dirty="0"/>
              <a:t>0,124864</a:t>
            </a:r>
          </a:p>
          <a:p>
            <a:pPr>
              <a:buNone/>
            </a:pPr>
            <a:r>
              <a:rPr lang="pt-BR" dirty="0"/>
              <a:t>                               0,04499456</a:t>
            </a:r>
          </a:p>
          <a:p>
            <a:pPr>
              <a:buNone/>
            </a:pPr>
            <a:endParaRPr lang="pt-BR" dirty="0"/>
          </a:p>
          <a:p>
            <a:r>
              <a:rPr lang="pt-BR" dirty="0"/>
              <a:t>VP = 500.000,00 . 2,775091 = 1.387.545,00 (note que o número diminui)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O conceito do Valor Presente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2286000"/>
            <a:ext cx="8208912" cy="4023360"/>
          </a:xfrm>
        </p:spPr>
        <p:txBody>
          <a:bodyPr>
            <a:noAutofit/>
          </a:bodyPr>
          <a:lstStyle/>
          <a:p>
            <a:pPr algn="just"/>
            <a:r>
              <a:rPr lang="pt-BR" sz="3600" dirty="0"/>
              <a:t>O valor de liquidação da dívida seria menor que o valor nominal das três últimas parcelas (3 x R$ 500.000,00 = R$ 1.500.000,00).</a:t>
            </a:r>
          </a:p>
          <a:p>
            <a:pPr algn="just">
              <a:buNone/>
            </a:pPr>
            <a:endParaRPr lang="pt-BR" sz="3600" dirty="0"/>
          </a:p>
          <a:p>
            <a:pPr algn="just"/>
            <a:r>
              <a:rPr lang="pt-BR" sz="3600" dirty="0"/>
              <a:t> Daí: </a:t>
            </a:r>
            <a:r>
              <a:rPr lang="pt-BR" sz="3600" dirty="0">
                <a:solidFill>
                  <a:srgbClr val="FF0000"/>
                </a:solidFill>
              </a:rPr>
              <a:t>1.500.000,00 - 1.387.545,00 = 112.455,00 =     0,07497 ou 7, 5 %.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Valor Presente Liquido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Compara ao Valor presente a Somatória do valor presente das saídas de caixa e o valor presente das entradas de caixa, podendo ser representado pela seguinte expressão: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pt-BR"/>
              <a:t>O conceito do Valor Presente Liquido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81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749497" y="804333"/>
            <a:ext cx="4693291" cy="5249334"/>
          </a:xfrm>
        </p:spPr>
        <p:txBody>
          <a:bodyPr anchor="ctr">
            <a:normAutofit/>
          </a:bodyPr>
          <a:lstStyle/>
          <a:p>
            <a:r>
              <a:rPr lang="pt-BR" sz="3200" dirty="0"/>
              <a:t>          n                           </a:t>
            </a:r>
            <a:r>
              <a:rPr lang="pt-BR" sz="3200" dirty="0" err="1"/>
              <a:t>n</a:t>
            </a:r>
            <a:endParaRPr lang="pt-BR" sz="3200" dirty="0"/>
          </a:p>
          <a:p>
            <a:r>
              <a:rPr lang="pt-BR" sz="3200" dirty="0"/>
              <a:t>Σ </a:t>
            </a:r>
            <a:r>
              <a:rPr lang="pt-BR" sz="3200" dirty="0" err="1"/>
              <a:t>ECj</a:t>
            </a:r>
            <a:r>
              <a:rPr lang="pt-BR" sz="3200" dirty="0"/>
              <a:t>            -       Σ </a:t>
            </a:r>
            <a:r>
              <a:rPr lang="pt-BR" sz="3200" dirty="0" err="1"/>
              <a:t>SCj</a:t>
            </a:r>
            <a:endParaRPr lang="pt-BR" sz="3200" dirty="0"/>
          </a:p>
          <a:p>
            <a:r>
              <a:rPr lang="pt-BR" sz="3200" dirty="0"/>
              <a:t>J=1 (1+i)ⁿ            J=1 (1+i)ⁿ</a:t>
            </a:r>
          </a:p>
          <a:p>
            <a:endParaRPr lang="pt-BR" sz="3200" dirty="0"/>
          </a:p>
          <a:p>
            <a:r>
              <a:rPr lang="pt-BR" sz="3200" dirty="0" err="1"/>
              <a:t>ECj</a:t>
            </a:r>
            <a:r>
              <a:rPr lang="pt-BR" sz="3200" dirty="0"/>
              <a:t> = Entradas de Caixa </a:t>
            </a:r>
          </a:p>
          <a:p>
            <a:r>
              <a:rPr lang="pt-BR" sz="3200" dirty="0"/>
              <a:t> </a:t>
            </a:r>
            <a:r>
              <a:rPr lang="pt-BR" sz="3200" dirty="0" err="1"/>
              <a:t>SCj</a:t>
            </a:r>
            <a:r>
              <a:rPr lang="pt-BR" sz="3200" dirty="0"/>
              <a:t> = Saídas de Caixa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pt-BR" err="1"/>
              <a:t>ValoR</a:t>
            </a:r>
            <a:r>
              <a:rPr lang="pt-BR"/>
              <a:t> Presente Liquido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81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749497" y="804333"/>
            <a:ext cx="4693291" cy="5249334"/>
          </a:xfrm>
        </p:spPr>
        <p:txBody>
          <a:bodyPr anchor="ctr">
            <a:noAutofit/>
          </a:bodyPr>
          <a:lstStyle/>
          <a:p>
            <a:pPr algn="just"/>
            <a:r>
              <a:rPr lang="pt-BR" sz="2800" dirty="0">
                <a:solidFill>
                  <a:srgbClr val="FF0000"/>
                </a:solidFill>
              </a:rPr>
              <a:t>Exemplo 2 </a:t>
            </a:r>
          </a:p>
          <a:p>
            <a:pPr algn="just"/>
            <a:r>
              <a:rPr lang="pt-BR" sz="2800" dirty="0">
                <a:solidFill>
                  <a:srgbClr val="FF0000"/>
                </a:solidFill>
              </a:rPr>
              <a:t>Uma empresa faz um investimento de R$ 100.000,00. </a:t>
            </a:r>
          </a:p>
          <a:p>
            <a:pPr algn="just"/>
            <a:r>
              <a:rPr lang="pt-BR" sz="2800" dirty="0">
                <a:solidFill>
                  <a:srgbClr val="FF0000"/>
                </a:solidFill>
              </a:rPr>
              <a:t> Estima ganhar R$ 3.500,00, por mês, nos próximos 40 meses, sem valor residual. </a:t>
            </a:r>
          </a:p>
          <a:p>
            <a:pPr algn="just"/>
            <a:r>
              <a:rPr lang="pt-BR" sz="2800" dirty="0">
                <a:solidFill>
                  <a:srgbClr val="FF0000"/>
                </a:solidFill>
              </a:rPr>
              <a:t> hipótese 0 : multiplicar R$ 3.500,00 por 40 meses, obtendo R$ 140.000,00 </a:t>
            </a:r>
          </a:p>
          <a:p>
            <a:pPr algn="just"/>
            <a:r>
              <a:rPr lang="pt-BR" sz="2800" dirty="0">
                <a:solidFill>
                  <a:srgbClr val="FF0000"/>
                </a:solidFill>
              </a:rPr>
              <a:t>Porém é necessário avaliar com mais detalhe os investimentos.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8096" y="836712"/>
            <a:ext cx="7290054" cy="864096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Valor Presente Líquid0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528" y="1700808"/>
            <a:ext cx="8496944" cy="4824536"/>
          </a:xfrm>
        </p:spPr>
        <p:txBody>
          <a:bodyPr>
            <a:normAutofit/>
          </a:bodyPr>
          <a:lstStyle/>
          <a:p>
            <a:r>
              <a:rPr lang="pt-BR" sz="2800" dirty="0"/>
              <a:t>Exemplo 2 (cont.) </a:t>
            </a:r>
          </a:p>
          <a:p>
            <a:pPr algn="just"/>
            <a:r>
              <a:rPr lang="pt-BR" sz="2800" dirty="0"/>
              <a:t> Passos para melhor avaliar (hipótese 1):</a:t>
            </a:r>
          </a:p>
          <a:p>
            <a:pPr algn="just">
              <a:buNone/>
            </a:pPr>
            <a:r>
              <a:rPr lang="pt-BR" sz="2800" dirty="0"/>
              <a:t>1. Considerar a taxa de juros de mercado ao redor de 2% ao mês. </a:t>
            </a:r>
          </a:p>
          <a:p>
            <a:pPr algn="just">
              <a:buNone/>
            </a:pPr>
            <a:r>
              <a:rPr lang="pt-BR" sz="2800" dirty="0"/>
              <a:t>2. Os R$ 100.000,00 podem ser considerados como um valor negativo (SCJ),  pois a empresa desembolsou esse valor para fazer o investimento. </a:t>
            </a:r>
          </a:p>
          <a:p>
            <a:pPr algn="just">
              <a:buNone/>
            </a:pPr>
            <a:r>
              <a:rPr lang="pt-BR" sz="2800" dirty="0"/>
              <a:t>3. As parcelas de R$ 3.500,00 são valores positivos por representarem entradas de caixa (ECJ)para a empresa nos próximos 40 meses.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499616"/>
          </a:xfrm>
        </p:spPr>
        <p:txBody>
          <a:bodyPr>
            <a:normAutofit/>
          </a:bodyPr>
          <a:lstStyle/>
          <a:p>
            <a:r>
              <a:rPr lang="pt-BR"/>
              <a:t>Valor presente Liquido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39552" y="2286000"/>
            <a:ext cx="6242247" cy="402336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pt-BR" sz="2400" dirty="0"/>
              <a:t>2.1 ) Cálculo do Valor Presente</a:t>
            </a:r>
          </a:p>
          <a:p>
            <a:pPr algn="just">
              <a:buNone/>
            </a:pPr>
            <a:r>
              <a:rPr lang="pt-BR" sz="2400" dirty="0"/>
              <a:t>VP = 3.500 .     </a:t>
            </a:r>
            <a:r>
              <a:rPr lang="pt-BR" sz="2400" u="sng" dirty="0"/>
              <a:t>(1 + 0,02)^40 – 1      </a:t>
            </a:r>
          </a:p>
          <a:p>
            <a:pPr algn="just">
              <a:buNone/>
            </a:pPr>
            <a:r>
              <a:rPr lang="pt-BR" sz="2400" dirty="0"/>
              <a:t>                             (1 + 0,02)^40 . 0,02 </a:t>
            </a:r>
          </a:p>
          <a:p>
            <a:pPr algn="just">
              <a:buNone/>
            </a:pPr>
            <a:r>
              <a:rPr lang="pt-BR" sz="2400" dirty="0"/>
              <a:t>VP = 3.500 .      </a:t>
            </a:r>
            <a:r>
              <a:rPr lang="pt-BR" sz="2400" u="sng" dirty="0"/>
              <a:t>2,20804 – 1 </a:t>
            </a:r>
          </a:p>
          <a:p>
            <a:pPr algn="just">
              <a:buNone/>
            </a:pPr>
            <a:r>
              <a:rPr lang="pt-BR" sz="2400" dirty="0"/>
              <a:t>                              2,20804 . 0,02</a:t>
            </a:r>
          </a:p>
          <a:p>
            <a:pPr algn="just">
              <a:buNone/>
            </a:pPr>
            <a:r>
              <a:rPr lang="pt-BR" sz="2400" dirty="0"/>
              <a:t>VP = 3.500 .     </a:t>
            </a:r>
            <a:r>
              <a:rPr lang="pt-BR" sz="2400" u="sng" dirty="0"/>
              <a:t>1,20804</a:t>
            </a:r>
          </a:p>
          <a:p>
            <a:pPr algn="just">
              <a:buNone/>
            </a:pPr>
            <a:r>
              <a:rPr lang="pt-BR" sz="2400" dirty="0"/>
              <a:t>                           0,044161</a:t>
            </a:r>
          </a:p>
          <a:p>
            <a:pPr algn="just">
              <a:buNone/>
            </a:pPr>
            <a:r>
              <a:rPr lang="pt-BR" sz="2400" b="1" dirty="0">
                <a:solidFill>
                  <a:srgbClr val="FF0000"/>
                </a:solidFill>
              </a:rPr>
              <a:t>VP = 3.500 * 27,355479 = 95.744,18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115592"/>
          </a:xfrm>
        </p:spPr>
        <p:txBody>
          <a:bodyPr/>
          <a:lstStyle/>
          <a:p>
            <a:r>
              <a:rPr lang="pt-BR" dirty="0"/>
              <a:t>Valor Presente Liquido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68096" y="1700808"/>
            <a:ext cx="7290055" cy="460855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3600" dirty="0"/>
              <a:t>2.2. Cálculo do VPL </a:t>
            </a:r>
          </a:p>
          <a:p>
            <a:pPr>
              <a:buNone/>
            </a:pPr>
            <a:endParaRPr lang="pt-BR" sz="3600" dirty="0"/>
          </a:p>
          <a:p>
            <a:pPr>
              <a:buNone/>
            </a:pPr>
            <a:r>
              <a:rPr lang="pt-BR" sz="3600" dirty="0"/>
              <a:t>VLP= ECJ- SCJ</a:t>
            </a:r>
          </a:p>
          <a:p>
            <a:pPr>
              <a:buNone/>
            </a:pPr>
            <a:endParaRPr lang="pt-BR" sz="3600" dirty="0"/>
          </a:p>
          <a:p>
            <a:pPr>
              <a:buNone/>
            </a:pPr>
            <a:r>
              <a:rPr lang="pt-BR" sz="3600" dirty="0"/>
              <a:t>VLP = 95.744,18 – 100.000,00 =</a:t>
            </a:r>
          </a:p>
          <a:p>
            <a:pPr>
              <a:buNone/>
            </a:pPr>
            <a:endParaRPr lang="pt-BR" sz="3600" dirty="0"/>
          </a:p>
          <a:p>
            <a:pPr>
              <a:buNone/>
            </a:pPr>
            <a:r>
              <a:rPr lang="pt-BR" sz="3600" dirty="0">
                <a:solidFill>
                  <a:srgbClr val="FF0000"/>
                </a:solidFill>
              </a:rPr>
              <a:t>VPL = - 4.255,82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Valor Presente Líquido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68096" y="1844824"/>
            <a:ext cx="7290055" cy="4464536"/>
          </a:xfrm>
        </p:spPr>
        <p:txBody>
          <a:bodyPr>
            <a:noAutofit/>
          </a:bodyPr>
          <a:lstStyle/>
          <a:p>
            <a:r>
              <a:rPr lang="pt-BR" sz="3200" dirty="0"/>
              <a:t>Conclusões:</a:t>
            </a:r>
          </a:p>
          <a:p>
            <a:pPr algn="just">
              <a:buNone/>
            </a:pPr>
            <a:r>
              <a:rPr lang="pt-BR" sz="3200" dirty="0"/>
              <a:t>1</a:t>
            </a:r>
            <a:r>
              <a:rPr lang="pt-BR" sz="3200" dirty="0">
                <a:highlight>
                  <a:srgbClr val="FFFF00"/>
                </a:highlight>
              </a:rPr>
              <a:t>. O VPL com sinal negativo é um investimento que não satisfaz a expectativa de retorno da taxa de juros do mercado (no caso 2% ao mês).</a:t>
            </a:r>
          </a:p>
          <a:p>
            <a:pPr algn="just">
              <a:buNone/>
            </a:pPr>
            <a:endParaRPr lang="pt-BR" sz="3200" dirty="0"/>
          </a:p>
          <a:p>
            <a:pPr algn="just">
              <a:buNone/>
            </a:pPr>
            <a:r>
              <a:rPr lang="pt-BR" sz="3200" dirty="0"/>
              <a:t> 2</a:t>
            </a:r>
            <a:r>
              <a:rPr lang="pt-BR" sz="3200" dirty="0">
                <a:highlight>
                  <a:srgbClr val="FFFF00"/>
                </a:highlight>
              </a:rPr>
              <a:t>. A soma dos valores presentes de todas as entradas de caixa é inferior ao valor investido.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8096" y="836712"/>
            <a:ext cx="7290054" cy="792088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Valor Presente Liquido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628800"/>
            <a:ext cx="8568952" cy="468056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2800" dirty="0"/>
              <a:t>Conclusões (</a:t>
            </a:r>
            <a:r>
              <a:rPr lang="pt-BR" sz="2800" dirty="0" err="1"/>
              <a:t>cont</a:t>
            </a:r>
            <a:r>
              <a:rPr lang="pt-BR" sz="2800" dirty="0"/>
              <a:t>)</a:t>
            </a:r>
          </a:p>
          <a:p>
            <a:pPr algn="just">
              <a:buNone/>
            </a:pPr>
            <a:r>
              <a:rPr lang="pt-BR" sz="2800" dirty="0"/>
              <a:t>3. VPL ≥ 0 – significa que o Valor Presente das Entradas de Caixa é, no mínimo, igual ao Valor Presente das Saídas de Caixa, então o investimento é viável.</a:t>
            </a:r>
          </a:p>
          <a:p>
            <a:pPr algn="just">
              <a:buNone/>
            </a:pPr>
            <a:endParaRPr lang="pt-BR" sz="2800" dirty="0"/>
          </a:p>
          <a:p>
            <a:pPr algn="just">
              <a:buNone/>
            </a:pPr>
            <a:r>
              <a:rPr lang="pt-BR" sz="2800" dirty="0"/>
              <a:t>4. </a:t>
            </a:r>
            <a:r>
              <a:rPr lang="pt-BR" sz="2800" dirty="0">
                <a:solidFill>
                  <a:srgbClr val="FF0000"/>
                </a:solidFill>
              </a:rPr>
              <a:t>VP &lt; 0 </a:t>
            </a:r>
            <a:r>
              <a:rPr lang="pt-BR" sz="2800" dirty="0"/>
              <a:t>– significa que o Valor Presente das Entradas de Caixa é menor que o Valor Presente das Saídas de Caixa, portanto o investimento não é viável.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pt-BR" dirty="0"/>
              <a:t>Valor Presente Liquido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81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63890" y="804332"/>
            <a:ext cx="5256581" cy="5649003"/>
          </a:xfrm>
        </p:spPr>
        <p:txBody>
          <a:bodyPr anchor="ctr">
            <a:normAutofit lnSpcReduction="10000"/>
          </a:bodyPr>
          <a:lstStyle/>
          <a:p>
            <a:pPr>
              <a:buNone/>
            </a:pPr>
            <a:r>
              <a:rPr lang="pt-BR" sz="2800" dirty="0"/>
              <a:t>Exercício 3 : Variando a taxa de juros para 1 %</a:t>
            </a:r>
          </a:p>
          <a:p>
            <a:pPr>
              <a:buNone/>
            </a:pPr>
            <a:r>
              <a:rPr lang="pt-BR" sz="2800" dirty="0"/>
              <a:t>3.1 ) Cálculo do Valor Presente</a:t>
            </a:r>
          </a:p>
          <a:p>
            <a:pPr>
              <a:buNone/>
            </a:pPr>
            <a:r>
              <a:rPr lang="pt-BR" sz="2800" dirty="0"/>
              <a:t>VP = 3.500 .     </a:t>
            </a:r>
            <a:r>
              <a:rPr lang="pt-BR" sz="2800" u="sng" dirty="0"/>
              <a:t>(1 + 0,01)^40 – 1      </a:t>
            </a:r>
          </a:p>
          <a:p>
            <a:pPr>
              <a:buNone/>
            </a:pPr>
            <a:r>
              <a:rPr lang="pt-BR" sz="2800" dirty="0"/>
              <a:t>                             (1 + 0,01)^40 . 0,01 </a:t>
            </a:r>
          </a:p>
          <a:p>
            <a:pPr>
              <a:buNone/>
            </a:pPr>
            <a:r>
              <a:rPr lang="pt-BR" sz="2800" dirty="0"/>
              <a:t>VP = 3.500 .       </a:t>
            </a:r>
            <a:r>
              <a:rPr lang="pt-BR" sz="2800" u="sng" dirty="0"/>
              <a:t>1.48886– 1 </a:t>
            </a:r>
          </a:p>
          <a:p>
            <a:pPr>
              <a:buNone/>
            </a:pPr>
            <a:r>
              <a:rPr lang="pt-BR" sz="2800" dirty="0"/>
              <a:t>                             1.48886. 0,01</a:t>
            </a:r>
          </a:p>
          <a:p>
            <a:pPr>
              <a:buNone/>
            </a:pPr>
            <a:r>
              <a:rPr lang="pt-BR" sz="2800" dirty="0"/>
              <a:t>VP = 3.500 .      </a:t>
            </a:r>
            <a:r>
              <a:rPr lang="pt-BR" sz="2800" u="sng" dirty="0"/>
              <a:t>0,48886</a:t>
            </a:r>
          </a:p>
          <a:p>
            <a:pPr>
              <a:buNone/>
            </a:pPr>
            <a:r>
              <a:rPr lang="pt-BR" sz="2800" dirty="0"/>
              <a:t>                             0,01489</a:t>
            </a:r>
          </a:p>
          <a:p>
            <a:pPr>
              <a:buNone/>
            </a:pPr>
            <a:r>
              <a:rPr lang="pt-BR" sz="2800" dirty="0"/>
              <a:t>VP = 3.500 * 32,83143 =</a:t>
            </a:r>
            <a:r>
              <a:rPr lang="pt-BR" sz="2800" dirty="0">
                <a:solidFill>
                  <a:srgbClr val="FF0000"/>
                </a:solidFill>
              </a:rPr>
              <a:t>114.910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8096" y="764704"/>
            <a:ext cx="7290054" cy="1008112"/>
          </a:xfrm>
        </p:spPr>
        <p:txBody>
          <a:bodyPr/>
          <a:lstStyle/>
          <a:p>
            <a:r>
              <a:rPr lang="pt-BR" dirty="0"/>
              <a:t>Valor Presente Liquido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528" y="2084832"/>
            <a:ext cx="8352928" cy="422452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pt-BR" sz="3200" dirty="0">
                <a:solidFill>
                  <a:srgbClr val="FF0000"/>
                </a:solidFill>
              </a:rPr>
              <a:t>3.2. Cálculo do VPL </a:t>
            </a:r>
          </a:p>
          <a:p>
            <a:pPr>
              <a:buNone/>
            </a:pPr>
            <a:endParaRPr lang="pt-BR" sz="32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pt-BR" sz="3200" dirty="0">
                <a:solidFill>
                  <a:srgbClr val="FF0000"/>
                </a:solidFill>
              </a:rPr>
              <a:t>VLP= ECJ- SCJ</a:t>
            </a:r>
          </a:p>
          <a:p>
            <a:pPr>
              <a:buNone/>
            </a:pPr>
            <a:endParaRPr lang="pt-BR" sz="32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pt-BR" sz="3200" dirty="0">
                <a:solidFill>
                  <a:srgbClr val="FF0000"/>
                </a:solidFill>
              </a:rPr>
              <a:t>VLP = 114.910– 100.000,00 =</a:t>
            </a:r>
          </a:p>
          <a:p>
            <a:pPr>
              <a:buNone/>
            </a:pPr>
            <a:endParaRPr lang="pt-BR" sz="32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pt-BR" sz="3200" dirty="0">
                <a:solidFill>
                  <a:srgbClr val="FF0000"/>
                </a:solidFill>
              </a:rPr>
              <a:t>VPL = 14.910 (viável)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8096" y="836712"/>
            <a:ext cx="7290054" cy="936104"/>
          </a:xfrm>
        </p:spPr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Valor Presente Liquido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1772816"/>
            <a:ext cx="8352928" cy="45365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400" dirty="0"/>
              <a:t>Exercício 4 : Variando a taxa de juros para 0,5 %</a:t>
            </a:r>
          </a:p>
          <a:p>
            <a:pPr>
              <a:buNone/>
            </a:pPr>
            <a:r>
              <a:rPr lang="pt-BR" sz="2400" dirty="0"/>
              <a:t>4.1 ) Cálculo do Valor Presente</a:t>
            </a:r>
          </a:p>
          <a:p>
            <a:pPr>
              <a:buNone/>
            </a:pPr>
            <a:r>
              <a:rPr lang="pt-BR" sz="2400" dirty="0"/>
              <a:t>VP = 3.500 .     </a:t>
            </a:r>
            <a:r>
              <a:rPr lang="pt-BR" sz="2400" u="sng" dirty="0"/>
              <a:t>(1 + 0,005)^40 – 1      </a:t>
            </a:r>
          </a:p>
          <a:p>
            <a:pPr>
              <a:buNone/>
            </a:pPr>
            <a:r>
              <a:rPr lang="pt-BR" sz="2400" dirty="0"/>
              <a:t>                             (1 + 0,005)^40 . 0,005 </a:t>
            </a:r>
          </a:p>
          <a:p>
            <a:pPr>
              <a:buNone/>
            </a:pPr>
            <a:r>
              <a:rPr lang="pt-BR" sz="2400" dirty="0"/>
              <a:t>VP = 3.500 .       </a:t>
            </a:r>
            <a:r>
              <a:rPr lang="pt-BR" sz="2400" u="sng" dirty="0"/>
              <a:t>1.22079– 1 </a:t>
            </a:r>
          </a:p>
          <a:p>
            <a:pPr>
              <a:buNone/>
            </a:pPr>
            <a:r>
              <a:rPr lang="pt-BR" sz="2400" dirty="0"/>
              <a:t>                             1.22079. 0,005</a:t>
            </a:r>
          </a:p>
          <a:p>
            <a:pPr>
              <a:buNone/>
            </a:pPr>
            <a:r>
              <a:rPr lang="pt-BR" sz="2400" dirty="0"/>
              <a:t>VP = 3.500 .      </a:t>
            </a:r>
            <a:r>
              <a:rPr lang="pt-BR" sz="2400" u="sng" dirty="0"/>
              <a:t>0,22079</a:t>
            </a:r>
          </a:p>
          <a:p>
            <a:pPr>
              <a:buNone/>
            </a:pPr>
            <a:r>
              <a:rPr lang="pt-BR" sz="2400" dirty="0"/>
              <a:t>                             0,0061</a:t>
            </a:r>
          </a:p>
          <a:p>
            <a:pPr>
              <a:buNone/>
            </a:pPr>
            <a:r>
              <a:rPr lang="pt-BR" sz="2400" dirty="0">
                <a:solidFill>
                  <a:srgbClr val="FF0000"/>
                </a:solidFill>
              </a:rPr>
              <a:t>VP = 3.500 * 36.195 =126.682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499616"/>
          </a:xfrm>
        </p:spPr>
        <p:txBody>
          <a:bodyPr>
            <a:normAutofit/>
          </a:bodyPr>
          <a:lstStyle/>
          <a:p>
            <a:r>
              <a:rPr lang="pt-BR"/>
              <a:t>Valor Presente Liquido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68096" y="2286000"/>
            <a:ext cx="6013703" cy="40233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800" dirty="0"/>
              <a:t>4.2. Cálculo do VPL </a:t>
            </a:r>
          </a:p>
          <a:p>
            <a:pPr>
              <a:buNone/>
            </a:pPr>
            <a:endParaRPr lang="pt-BR" sz="2800" dirty="0"/>
          </a:p>
          <a:p>
            <a:pPr>
              <a:buNone/>
            </a:pPr>
            <a:r>
              <a:rPr lang="pt-BR" sz="2800" dirty="0"/>
              <a:t>VLP= ECJ- SCJ</a:t>
            </a:r>
          </a:p>
          <a:p>
            <a:pPr>
              <a:buNone/>
            </a:pPr>
            <a:endParaRPr lang="pt-BR" sz="2800" dirty="0"/>
          </a:p>
          <a:p>
            <a:pPr>
              <a:buNone/>
            </a:pPr>
            <a:r>
              <a:rPr lang="pt-BR" sz="2800" dirty="0"/>
              <a:t>VLP = 126.682– 100.000,00 =</a:t>
            </a:r>
          </a:p>
          <a:p>
            <a:pPr>
              <a:buNone/>
            </a:pPr>
            <a:endParaRPr lang="pt-BR" sz="2800" dirty="0"/>
          </a:p>
          <a:p>
            <a:pPr>
              <a:buNone/>
            </a:pPr>
            <a:r>
              <a:rPr lang="pt-BR" sz="2800" dirty="0">
                <a:solidFill>
                  <a:srgbClr val="FF0000"/>
                </a:solidFill>
              </a:rPr>
              <a:t>VPL = 26.682 (viável)</a:t>
            </a:r>
          </a:p>
          <a:p>
            <a:pPr>
              <a:buNone/>
            </a:pPr>
            <a:endParaRPr lang="pt-B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AE4C84F-7457-4662-AFA3-554A32B9C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75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F9B39E-8A25-4BC3-B3C0-ACD46B94E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457"/>
            <a:ext cx="9141714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8096" y="4971088"/>
            <a:ext cx="7290054" cy="1499616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Valor Presente Liquido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A91CE2E-0B4F-41F3-95F2-0EB700368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5242273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AF19BC4E-2343-4A25-9125-771194B74C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5655591"/>
              </p:ext>
            </p:extLst>
          </p:nvPr>
        </p:nvGraphicFramePr>
        <p:xfrm>
          <a:off x="251520" y="387296"/>
          <a:ext cx="8403133" cy="41847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Valor Presente Liquido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Critério de comparação de projetos:</a:t>
            </a:r>
          </a:p>
          <a:p>
            <a:pPr>
              <a:buNone/>
            </a:pPr>
            <a:r>
              <a:rPr lang="pt-BR" dirty="0"/>
              <a:t>   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902190"/>
              </p:ext>
            </p:extLst>
          </p:nvPr>
        </p:nvGraphicFramePr>
        <p:xfrm>
          <a:off x="1524000" y="2780926"/>
          <a:ext cx="6096000" cy="2448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2408">
                <a:tc>
                  <a:txBody>
                    <a:bodyPr/>
                    <a:lstStyle/>
                    <a:p>
                      <a:r>
                        <a:rPr lang="pt-BR" dirty="0"/>
                        <a:t>Projeto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Projeto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Projeto 3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345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VPL</a:t>
                      </a:r>
                    </a:p>
                    <a:p>
                      <a:pPr algn="ctr"/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VPL</a:t>
                      </a:r>
                    </a:p>
                    <a:p>
                      <a:pPr algn="ctr"/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408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FF0000"/>
                          </a:solidFill>
                        </a:rPr>
                        <a:t>              </a:t>
                      </a:r>
                      <a:r>
                        <a:rPr lang="pt-BR" sz="2000" b="1" dirty="0" err="1">
                          <a:solidFill>
                            <a:srgbClr val="FF0000"/>
                          </a:solidFill>
                        </a:rPr>
                        <a:t>Retono</a:t>
                      </a:r>
                      <a:r>
                        <a:rPr lang="pt-BR" sz="2000" b="1" dirty="0">
                          <a:solidFill>
                            <a:srgbClr val="FF0000"/>
                          </a:solidFill>
                        </a:rPr>
                        <a:t> 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err="1">
                          <a:solidFill>
                            <a:srgbClr val="FF0000"/>
                          </a:solidFill>
                        </a:rPr>
                        <a:t>Retono</a:t>
                      </a:r>
                      <a:r>
                        <a:rPr lang="pt-BR" sz="2000" b="1" dirty="0">
                          <a:solidFill>
                            <a:srgbClr val="FF0000"/>
                          </a:solidFill>
                        </a:rPr>
                        <a:t>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solidFill>
                            <a:srgbClr val="FF0000"/>
                          </a:solidFill>
                        </a:rPr>
                        <a:t>Retorno 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115592"/>
          </a:xfrm>
        </p:spPr>
        <p:txBody>
          <a:bodyPr>
            <a:normAutofit/>
          </a:bodyPr>
          <a:lstStyle/>
          <a:p>
            <a:r>
              <a:rPr lang="pt-BR" dirty="0"/>
              <a:t>Fator de Valor Futur0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527" y="2060849"/>
            <a:ext cx="6863983" cy="4363414"/>
          </a:xfrm>
        </p:spPr>
        <p:txBody>
          <a:bodyPr>
            <a:normAutofit/>
          </a:bodyPr>
          <a:lstStyle/>
          <a:p>
            <a:r>
              <a:rPr lang="pt-BR" sz="2400" dirty="0"/>
              <a:t> Correção de uma série uniforme de fluxos com correção crescente.</a:t>
            </a:r>
          </a:p>
          <a:p>
            <a:r>
              <a:rPr lang="pt-BR" sz="2400" dirty="0"/>
              <a:t> Implica no crescimento do resultado (aplicações financeiras)</a:t>
            </a:r>
          </a:p>
          <a:p>
            <a:r>
              <a:rPr lang="pt-BR" sz="2400" dirty="0"/>
              <a:t> Se no Valor Presente o montante é corrigido para o presente.</a:t>
            </a:r>
          </a:p>
          <a:p>
            <a:r>
              <a:rPr lang="pt-BR" sz="2400" dirty="0"/>
              <a:t> No Valor Futuro o montante é corrigido pela estimativa presente nas taxas de correção.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459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pt-BR"/>
              <a:t>Fator de valor Futuro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81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08197" y="804333"/>
            <a:ext cx="5384277" cy="5249334"/>
          </a:xfrm>
        </p:spPr>
        <p:txBody>
          <a:bodyPr anchor="ctr">
            <a:normAutofit/>
          </a:bodyPr>
          <a:lstStyle/>
          <a:p>
            <a:pPr algn="just"/>
            <a:r>
              <a:rPr lang="pt-BR" sz="2400" dirty="0"/>
              <a:t>Fórmula Geral:</a:t>
            </a:r>
          </a:p>
          <a:p>
            <a:pPr algn="just"/>
            <a:endParaRPr lang="pt-BR" sz="2400" dirty="0"/>
          </a:p>
          <a:p>
            <a:pPr marL="0" indent="0" algn="just">
              <a:buNone/>
            </a:pPr>
            <a:r>
              <a:rPr lang="pt-BR" sz="2400" dirty="0"/>
              <a:t>    [(1 + i/100)^n] -1 </a:t>
            </a:r>
          </a:p>
          <a:p>
            <a:pPr marL="0" indent="0" algn="just">
              <a:buNone/>
            </a:pPr>
            <a:r>
              <a:rPr lang="pt-BR" sz="2400" dirty="0"/>
              <a:t>     ________________</a:t>
            </a:r>
          </a:p>
          <a:p>
            <a:pPr marL="0" indent="0" algn="just">
              <a:buNone/>
            </a:pPr>
            <a:r>
              <a:rPr lang="pt-BR" sz="2400" dirty="0"/>
              <a:t>                 i/ 100</a:t>
            </a:r>
          </a:p>
          <a:p>
            <a:pPr marL="0" indent="0" algn="just">
              <a:buNone/>
            </a:pPr>
            <a:endParaRPr lang="pt-BR" sz="2400" dirty="0"/>
          </a:p>
          <a:p>
            <a:pPr marL="0" indent="0" algn="just">
              <a:buNone/>
            </a:pPr>
            <a:r>
              <a:rPr lang="pt-BR" sz="2400" dirty="0"/>
              <a:t>Exemplo: Calcule o montante de 12 parcelas mensais  de R$ % 5.000,00 com base em uma taxa de 1,5 % ao mês.</a:t>
            </a:r>
          </a:p>
        </p:txBody>
      </p:sp>
    </p:spTree>
    <p:extLst>
      <p:ext uri="{BB962C8B-B14F-4D97-AF65-F5344CB8AC3E}">
        <p14:creationId xmlns:p14="http://schemas.microsoft.com/office/powerpoint/2010/main" val="365929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r"/>
            <a:r>
              <a:rPr lang="pt-BR">
                <a:solidFill>
                  <a:srgbClr val="FFFFFF"/>
                </a:solidFill>
              </a:rPr>
              <a:t>Fator de valor Futuro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63888" y="548680"/>
            <a:ext cx="5112568" cy="5976663"/>
          </a:xfrm>
        </p:spPr>
        <p:txBody>
          <a:bodyPr anchor="ctr">
            <a:normAutofit/>
          </a:bodyPr>
          <a:lstStyle/>
          <a:p>
            <a:r>
              <a:rPr lang="pt-BR" b="1" dirty="0"/>
              <a:t>5.000  X   [(1,015)^12] -1</a:t>
            </a:r>
          </a:p>
          <a:p>
            <a:pPr marL="0" indent="0">
              <a:buNone/>
            </a:pPr>
            <a:r>
              <a:rPr lang="pt-BR" b="1" dirty="0"/>
              <a:t>                  _____________ =  1.19562 -1 </a:t>
            </a:r>
          </a:p>
          <a:p>
            <a:pPr marL="0" indent="0">
              <a:buNone/>
            </a:pPr>
            <a:r>
              <a:rPr lang="pt-BR" b="1" dirty="0"/>
              <a:t>                             0,015  </a:t>
            </a:r>
          </a:p>
          <a:p>
            <a:pPr marL="0" indent="0">
              <a:buNone/>
            </a:pPr>
            <a:endParaRPr lang="pt-BR" b="1" dirty="0"/>
          </a:p>
          <a:p>
            <a:pPr marL="0" indent="0">
              <a:buNone/>
            </a:pPr>
            <a:r>
              <a:rPr lang="pt-BR" b="1" dirty="0"/>
              <a:t>   5.000,00 X     0,19562 / 0,015 = </a:t>
            </a:r>
          </a:p>
          <a:p>
            <a:pPr marL="0" indent="0">
              <a:buNone/>
            </a:pPr>
            <a:r>
              <a:rPr lang="pt-BR" b="1" dirty="0"/>
              <a:t>    5.000,00 X 13,041 = 65.205,00         </a:t>
            </a:r>
          </a:p>
        </p:txBody>
      </p:sp>
    </p:spTree>
    <p:extLst>
      <p:ext uri="{BB962C8B-B14F-4D97-AF65-F5344CB8AC3E}">
        <p14:creationId xmlns:p14="http://schemas.microsoft.com/office/powerpoint/2010/main" val="1885212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499616"/>
          </a:xfrm>
        </p:spPr>
        <p:txBody>
          <a:bodyPr>
            <a:normAutofit/>
          </a:bodyPr>
          <a:lstStyle/>
          <a:p>
            <a:r>
              <a:rPr lang="pt-BR"/>
              <a:t>Valor Presente  e Valor Futuro(Excel)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68096" y="2286000"/>
            <a:ext cx="6013703" cy="4023360"/>
          </a:xfrm>
        </p:spPr>
        <p:txBody>
          <a:bodyPr>
            <a:normAutofit/>
          </a:bodyPr>
          <a:lstStyle/>
          <a:p>
            <a:endParaRPr lang="pt-BR" dirty="0"/>
          </a:p>
          <a:p>
            <a:r>
              <a:rPr lang="pt-BR" sz="2800" b="1" dirty="0"/>
              <a:t>= VP (Taxa %; Períodos; -pagamento)</a:t>
            </a:r>
          </a:p>
          <a:p>
            <a:endParaRPr lang="pt-BR" sz="2800" b="1" dirty="0"/>
          </a:p>
          <a:p>
            <a:r>
              <a:rPr lang="pt-BR" sz="2800" b="1" dirty="0"/>
              <a:t>= VF (Taxa %; Períodos; - pagamento)</a:t>
            </a:r>
          </a:p>
          <a:p>
            <a:endParaRPr lang="pt-B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66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6013704" cy="1499616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Aplicações para valor futuro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5536" y="1988840"/>
            <a:ext cx="6386263" cy="4464496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Cálculo do ponto de equilíbrio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Relacionado diretamente ao:</a:t>
            </a:r>
          </a:p>
          <a:p>
            <a:pPr algn="just"/>
            <a:r>
              <a:rPr lang="pt-BR" sz="2400" dirty="0"/>
              <a:t>1. Período pré-operacional (2º. Quadrante)</a:t>
            </a:r>
          </a:p>
          <a:p>
            <a:pPr algn="just"/>
            <a:r>
              <a:rPr lang="pt-BR" sz="2400" dirty="0"/>
              <a:t>2. Cálculo dos investimentos corrigidos para o termo em Y no momento X=0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325601"/>
            <a:ext cx="171519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7511" y="4394539"/>
            <a:ext cx="171519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32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1287</Words>
  <Application>Microsoft Office PowerPoint</Application>
  <PresentationFormat>Apresentação na tela (4:3)</PresentationFormat>
  <Paragraphs>175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1" baseType="lpstr">
      <vt:lpstr>Tw Cen MT</vt:lpstr>
      <vt:lpstr>Tw Cen MT Condensed</vt:lpstr>
      <vt:lpstr>Wingdings 3</vt:lpstr>
      <vt:lpstr>Integral</vt:lpstr>
      <vt:lpstr>Introdução aos conceitos de  Valor Futuro e valor presente </vt:lpstr>
      <vt:lpstr>Objetivos:</vt:lpstr>
      <vt:lpstr>O conceito do Valor  </vt:lpstr>
      <vt:lpstr>Valor Presente Líquido</vt:lpstr>
      <vt:lpstr>O conceito do Valor Presente </vt:lpstr>
      <vt:lpstr>O conceito do Valor Presente Liquido</vt:lpstr>
      <vt:lpstr>O conceito do Valor Presente </vt:lpstr>
      <vt:lpstr>O conceito do Valor Presente </vt:lpstr>
      <vt:lpstr>Valor Presente Liquido</vt:lpstr>
      <vt:lpstr>O conceito do Valor Presente Liquido</vt:lpstr>
      <vt:lpstr>ValoR Presente Liquido</vt:lpstr>
      <vt:lpstr>Valor Presente Líquid0</vt:lpstr>
      <vt:lpstr>Valor presente Liquido</vt:lpstr>
      <vt:lpstr>Valor Presente Liquido</vt:lpstr>
      <vt:lpstr>Valor Presente Líquido</vt:lpstr>
      <vt:lpstr>Valor Presente Liquido</vt:lpstr>
      <vt:lpstr>Valor Presente Liquido</vt:lpstr>
      <vt:lpstr>Valor Presente Liquido</vt:lpstr>
      <vt:lpstr>Valor Presente Liquido</vt:lpstr>
      <vt:lpstr>Valor Presente Liquido</vt:lpstr>
      <vt:lpstr>Valor Presente Liquido</vt:lpstr>
      <vt:lpstr>Valor Presente Liquido</vt:lpstr>
      <vt:lpstr>Fator de Valor Futur0</vt:lpstr>
      <vt:lpstr>Fator de valor Futuro</vt:lpstr>
      <vt:lpstr>Fator de valor Futuro</vt:lpstr>
      <vt:lpstr>Valor Presente  e Valor Futuro(Excel)</vt:lpstr>
      <vt:lpstr>Aplicações para valor futuro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Valor Futuro e valor presente</dc:title>
  <dc:creator>Demerval Luiz Polizelli</dc:creator>
  <cp:lastModifiedBy>Demerval Luiz Polizelli</cp:lastModifiedBy>
  <cp:revision>3</cp:revision>
  <dcterms:created xsi:type="dcterms:W3CDTF">2019-09-01T23:19:44Z</dcterms:created>
  <dcterms:modified xsi:type="dcterms:W3CDTF">2019-09-01T23:42:44Z</dcterms:modified>
</cp:coreProperties>
</file>